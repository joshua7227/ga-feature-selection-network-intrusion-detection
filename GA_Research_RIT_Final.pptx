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234" autoAdjust="0"/>
  </p:normalViewPr>
  <p:slideViewPr>
    <p:cSldViewPr snapToGrid="0" snapToObjects="1">
      <p:cViewPr varScale="1">
        <p:scale>
          <a:sx n="109" d="100"/>
          <a:sy n="109" d="100"/>
        </p:scale>
        <p:origin x="126" y="3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4077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 everyone, I'm Joshua. My project asks a simple question: when a Genetic Algorithm picks features to maximize accuracy on one dataset, do those features actually work somewhere else? Turns out, mostly no — and the reason is interesting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problem has two layers. The obvious one is dimensionality — NSL-KDD has 121 features after encoding, UNSW-NB15 has 49, and most of them are noise. Feature selection is supposed to fix that.</a:t>
            </a:r>
          </a:p>
          <a:p>
            <a:r>
              <a:rPr lang="en-US" dirty="0"/>
              <a:t>The less obvious one is evaluation circularity. Nearly every feature selection paper tests on the same distribution it trained on. That's a closed loop. You're not measuring generalization, you're measuring how well your selector memorized the training set.</a:t>
            </a:r>
          </a:p>
          <a:p>
            <a:r>
              <a:rPr lang="en-US" dirty="0"/>
              <a:t>My research question is: do GA-selected features that maximize in-domain F1 also transfer to a different dataset? My hypothesis is they don't — and that the optimization process itself is partly responsible.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concrete case is network intrusion detection. NSL-KDD comes from 1999-era DARPA simulated traffic. UNSW-NB15 was generated in 2015 with modern attack profiles — backdoors, shellcode, lateral movement. These are the same domain, but they're completely different worlds.</a:t>
            </a:r>
          </a:p>
          <a:p>
            <a:r>
              <a:rPr lang="en-US" dirty="0"/>
              <a:t>A GA trained on NSL-KDD selects features like '</a:t>
            </a:r>
            <a:r>
              <a:rPr lang="en-US" dirty="0" err="1"/>
              <a:t>service_ftp_data</a:t>
            </a:r>
            <a:r>
              <a:rPr lang="en-US" dirty="0"/>
              <a:t>' and 'flag_S0' — protocol signatures specific to 1999. When you try to apply those to UNSW-NB15, they don't even exist in the data. Performance collapses. That's what I measured.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 reviewed three areas. Filter methods — Chi-Square, Mutual Information, L1, RF Importance — are fast but they can't capture feature interactions. The GA-based selection literature, from Chandrashekar and Sahin 2014 onward, is better at that. But every paper I found evaluates in-domain only. Cross-dataset transfer has never been reported. Neither has Jaccard stability across seeds. This paper fills both gaps, using NSL-KDD as the source domain and UNSW-NB15 as the target.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Each individual in the GA population is a binary vector — a 1 means include that feature, 0 means drop it. The fitness function is alpha times weighted F1, minus beta times the fraction of features selected. Alpha is 0.9, beta 0.1. Without the penalty, the GA just selects everything. Without the accuracy term, it selects nothing. The balance between the two is what makes it work.</a:t>
            </a:r>
          </a:p>
          <a:p>
            <a:r>
              <a:rPr lang="en-US" dirty="0"/>
              <a:t>For operators: tournament selection with k equals 3, single-point crossover at 0.8, bit-flip mutation at 0.01 per bit. On a 121-feature chromosome that's about 1.2 flips per individual per generation — enough to keep diversity without destroying good solutions. The convergence curve on the right shows exactly what you want: best fitness improving monotonically, mean fitness tracking close behind.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datasets: NSL-KDD has 125,973 training records, UNSW-NB15 uses the author-provided split. Both are preprocessed with ordinal encoding and min-max scaling. No SMOTE — stratified CV handles class imbalance without generating synthetic data that could contaminate the results.</a:t>
            </a:r>
          </a:p>
          <a:p>
            <a:r>
              <a:rPr lang="en-US" dirty="0"/>
              <a:t>Seven experiments total. E1 and E2 are baselines on NSL-KDD. E3 is the GA on NSL-KDD. E4 and E5 repeat on UNSW-NB15. E6 runs the GA five times with different seeds to measure stability. E7 is the cross-dataset transfer. 12 classifiers throughout.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GA is compared against five baselines: Chi-Square top 20, Mutual Information top 20, L1 Logistic, RF Importance, and PCA. PCA is a transform not a selector, so it also can't transfer via feature names.</a:t>
            </a:r>
          </a:p>
          <a:p>
            <a:r>
              <a:rPr lang="en-US" dirty="0"/>
              <a:t>Primary metric is weighted F1 for class imbalance. For stability I report mean pairwise Jaccard across seeds. For cross-dataset I report delta-M — within F1 minus cross F1. Positive means the method got worse. All significance tests use paired t-test plus Wilcoxon, with Bonferroni correction.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First, the GA achieves 91.7% feature reduction on NSL-KDD — about 10 features out of 121. That's the real advantage.</a:t>
            </a:r>
          </a:p>
          <a:p>
            <a:r>
              <a:rPr lang="en-US" dirty="0"/>
              <a:t>Second, Jaccard stability across 5 seeds is 0.137. That's very low. Only </a:t>
            </a:r>
            <a:r>
              <a:rPr lang="en-US" dirty="0" err="1"/>
              <a:t>src_bytes</a:t>
            </a:r>
            <a:r>
              <a:rPr lang="en-US" dirty="0"/>
              <a:t> and </a:t>
            </a:r>
            <a:r>
              <a:rPr lang="en-US" dirty="0" err="1"/>
              <a:t>dst_bytes</a:t>
            </a:r>
            <a:r>
              <a:rPr lang="en-US" dirty="0"/>
              <a:t> show up in every run. Everything else changes completely with the seed. The GA isn't finding a universal signal — it's finding seed-specific patterns.</a:t>
            </a:r>
          </a:p>
          <a:p>
            <a:r>
              <a:rPr lang="en-US" dirty="0"/>
              <a:t>Third, every selector — not just GA — drops between 14.5 and 17.5 F1 percentage points cross-dataset. The figure on the right shows this clearly. The reason is the feature schema mismatch I mentioned earlier: post-encoding, NSL-KDD and UNSW-NB15 share essentially zero feature names. GA's bar looks unusual — it appears to gain performance cross-dataset — but that's invalid. Zero of ten GA features existed in UNSW-NB15, so the code fell back to using all UNSW features. That's not a real transfer.</a:t>
            </a:r>
          </a:p>
          <a:p>
            <a:r>
              <a:rPr lang="en-US" dirty="0"/>
              <a:t>Fourth, statistically: GA beats Chi-Square and PCA, but it's significantly worse than </a:t>
            </a:r>
            <a:r>
              <a:rPr lang="en-US" dirty="0" err="1"/>
              <a:t>NoSelection</a:t>
            </a:r>
            <a:r>
              <a:rPr lang="en-US" dirty="0"/>
              <a:t>, Mutual Info, L1, and RF Importance. All at p less than 0.01. Raw accuracy is not where the GA wins.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 to wrap up — benchmark accuracy isn't the same as real-world generalization. The GA is great at compressing features, 92% reduction, but it doesn't consistently beat simpler methods on accuracy, and it picks different features every time you run it.</a:t>
            </a:r>
          </a:p>
          <a:p>
            <a:r>
              <a:rPr lang="en-US" dirty="0"/>
              <a:t>For anyone building something like an IDS in practice — you can't just train a GA on one dataset and expect those features to work somewhere else. The feature schemas don't even line up.</a:t>
            </a:r>
          </a:p>
          <a:p>
            <a:r>
              <a:rPr lang="en-US" dirty="0"/>
              <a:t>I'll be honest, E7 didn't give me the clean cross-dataset result I wanted. </a:t>
            </a:r>
            <a:r>
              <a:rPr lang="en-US"/>
              <a:t>But the stability finding — Jaccard of 0.137 — was something I genuinely didn't expect going in, and I think that's actually the more useful takeaway from this work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73152"/>
            <a:ext cx="2743200" cy="1005840"/>
          </a:xfrm>
          <a:prstGeom prst="rect">
            <a:avLst/>
          </a:prstGeom>
          <a:noFill/>
        </p:spPr>
        <p:txBody>
          <a:bodyPr wrap="square">
            <a:spAutoFit/>
          </a:bodyPr>
          <a:lstStyle/>
          <a:p>
            <a:r>
              <a:rPr sz="5400" b="1" i="0" dirty="0">
                <a:solidFill>
                  <a:srgbClr val="FFFFFF"/>
                </a:solidFill>
                <a:latin typeface="Times New Roman"/>
              </a:rPr>
              <a:t>RIT</a:t>
            </a:r>
          </a:p>
        </p:txBody>
      </p:sp>
      <p:sp>
        <p:nvSpPr>
          <p:cNvPr id="4" name="Rectangle 3"/>
          <p:cNvSpPr/>
          <p:nvPr/>
        </p:nvSpPr>
        <p:spPr>
          <a:xfrm>
            <a:off x="0" y="6190488"/>
            <a:ext cx="12191695" cy="66751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 y="6236208"/>
            <a:ext cx="1371600" cy="365760"/>
          </a:xfrm>
          <a:prstGeom prst="rect">
            <a:avLst/>
          </a:prstGeom>
          <a:noFill/>
        </p:spPr>
        <p:txBody>
          <a:bodyPr wrap="square">
            <a:spAutoFit/>
          </a:bodyPr>
          <a:lstStyle/>
          <a:p>
            <a:r>
              <a:rPr sz="2200" b="1" i="0">
                <a:solidFill>
                  <a:srgbClr val="FFFFFF"/>
                </a:solidFill>
                <a:latin typeface="Times New Roman"/>
              </a:rPr>
              <a:t>RIT</a:t>
            </a:r>
          </a:p>
        </p:txBody>
      </p:sp>
      <p:sp>
        <p:nvSpPr>
          <p:cNvPr id="6" name="TextBox 5"/>
          <p:cNvSpPr txBox="1"/>
          <p:nvPr/>
        </p:nvSpPr>
        <p:spPr>
          <a:xfrm>
            <a:off x="594360" y="1417320"/>
            <a:ext cx="11338560" cy="1477328"/>
          </a:xfrm>
          <a:prstGeom prst="rect">
            <a:avLst/>
          </a:prstGeom>
          <a:noFill/>
        </p:spPr>
        <p:txBody>
          <a:bodyPr wrap="square">
            <a:spAutoFit/>
          </a:bodyPr>
          <a:lstStyle/>
          <a:p>
            <a:pPr algn="l">
              <a:spcBef>
                <a:spcPts val="0"/>
              </a:spcBef>
              <a:spcAft>
                <a:spcPts val="0"/>
              </a:spcAft>
            </a:pPr>
            <a:r>
              <a:rPr sz="3000" b="1" i="0" dirty="0">
                <a:latin typeface="Times New Roman"/>
              </a:rPr>
              <a:t>Evaluating the Generalization Ability of
Genetic Algorithm–Based Feature Selection
in Tabular Machine Learning Models</a:t>
            </a:r>
          </a:p>
        </p:txBody>
      </p:sp>
      <p:sp>
        <p:nvSpPr>
          <p:cNvPr id="7" name="Rectangle 6"/>
          <p:cNvSpPr/>
          <p:nvPr/>
        </p:nvSpPr>
        <p:spPr>
          <a:xfrm>
            <a:off x="594360" y="3520440"/>
            <a:ext cx="10972800" cy="36576"/>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3630168"/>
            <a:ext cx="10972800" cy="887422"/>
          </a:xfrm>
          <a:prstGeom prst="rect">
            <a:avLst/>
          </a:prstGeom>
          <a:noFill/>
        </p:spPr>
        <p:txBody>
          <a:bodyPr wrap="square">
            <a:spAutoFit/>
          </a:bodyPr>
          <a:lstStyle/>
          <a:p>
            <a:r>
              <a:rPr sz="1500" b="0" i="1" dirty="0">
                <a:solidFill>
                  <a:srgbClr val="444444"/>
                </a:solidFill>
                <a:latin typeface="Times New Roman"/>
              </a:rPr>
              <a:t>IDAI-720 — </a:t>
            </a:r>
            <a:r>
              <a:rPr lang="en-US" sz="1500" i="1" dirty="0">
                <a:solidFill>
                  <a:srgbClr val="444444"/>
                </a:solidFill>
                <a:latin typeface="Times New Roman"/>
              </a:rPr>
              <a:t>Research Methods for AI</a:t>
            </a:r>
            <a:endParaRPr sz="1500" b="0" i="1" dirty="0">
              <a:solidFill>
                <a:srgbClr val="444444"/>
              </a:solidFill>
              <a:latin typeface="Times New Roman"/>
            </a:endParaRPr>
          </a:p>
          <a:p>
            <a:pPr algn="l">
              <a:spcBef>
                <a:spcPts val="600"/>
              </a:spcBef>
              <a:spcAft>
                <a:spcPts val="0"/>
              </a:spcAft>
            </a:pPr>
            <a:r>
              <a:rPr sz="1700" b="1" i="0" dirty="0">
                <a:latin typeface="Times New Roman"/>
              </a:rPr>
              <a:t>Joshua Sheron Dhanapal</a:t>
            </a:r>
          </a:p>
          <a:p>
            <a:pPr algn="l">
              <a:spcBef>
                <a:spcPts val="200"/>
              </a:spcBef>
              <a:spcAft>
                <a:spcPts val="0"/>
              </a:spcAft>
            </a:pPr>
            <a:r>
              <a:rPr sz="1300" b="0" i="0" dirty="0">
                <a:solidFill>
                  <a:srgbClr val="444444"/>
                </a:solidFill>
                <a:latin typeface="Times New Roman"/>
              </a:rPr>
              <a:t>M.S. Artificial Intelligence  |  Rochester Institute of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67258" cy="61904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90488"/>
            <a:ext cx="12191695" cy="66751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 y="6236208"/>
            <a:ext cx="1371600" cy="365760"/>
          </a:xfrm>
          <a:prstGeom prst="rect">
            <a:avLst/>
          </a:prstGeom>
          <a:noFill/>
        </p:spPr>
        <p:txBody>
          <a:bodyPr wrap="square">
            <a:spAutoFit/>
          </a:bodyPr>
          <a:lstStyle/>
          <a:p>
            <a:r>
              <a:rPr sz="2200" b="1" i="0">
                <a:solidFill>
                  <a:srgbClr val="FFFFFF"/>
                </a:solidFill>
                <a:latin typeface="Times New Roman"/>
              </a:rPr>
              <a:t>RIT</a:t>
            </a:r>
          </a:p>
        </p:txBody>
      </p:sp>
      <p:sp>
        <p:nvSpPr>
          <p:cNvPr id="5" name="TextBox 4"/>
          <p:cNvSpPr txBox="1"/>
          <p:nvPr/>
        </p:nvSpPr>
        <p:spPr>
          <a:xfrm>
            <a:off x="7772400" y="6281928"/>
            <a:ext cx="4297680" cy="320040"/>
          </a:xfrm>
          <a:prstGeom prst="rect">
            <a:avLst/>
          </a:prstGeom>
          <a:noFill/>
        </p:spPr>
        <p:txBody>
          <a:bodyPr wrap="square">
            <a:spAutoFit/>
          </a:bodyPr>
          <a:lstStyle/>
          <a:p>
            <a:pPr algn="r">
              <a:spcBef>
                <a:spcPts val="0"/>
              </a:spcBef>
              <a:spcAft>
                <a:spcPts val="0"/>
              </a:spcAft>
            </a:pPr>
            <a:r>
              <a:rPr sz="1100" b="0" i="0">
                <a:solidFill>
                  <a:srgbClr val="FFFFFF"/>
                </a:solidFill>
                <a:latin typeface="Times New Roman"/>
              </a:rPr>
              <a:t>Rochester Institute of Technology  |  2</a:t>
            </a:r>
          </a:p>
        </p:txBody>
      </p:sp>
      <p:sp>
        <p:nvSpPr>
          <p:cNvPr id="6" name="Rectangle 5"/>
          <p:cNvSpPr/>
          <p:nvPr/>
        </p:nvSpPr>
        <p:spPr>
          <a:xfrm>
            <a:off x="502920" y="228600"/>
            <a:ext cx="11503152" cy="5029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56032"/>
            <a:ext cx="11338560" cy="502920"/>
          </a:xfrm>
          <a:prstGeom prst="rect">
            <a:avLst/>
          </a:prstGeom>
          <a:noFill/>
        </p:spPr>
        <p:txBody>
          <a:bodyPr wrap="square">
            <a:spAutoFit/>
          </a:bodyPr>
          <a:lstStyle/>
          <a:p>
            <a:r>
              <a:rPr sz="2600" b="1" i="0">
                <a:solidFill>
                  <a:srgbClr val="FFFFFF"/>
                </a:solidFill>
                <a:latin typeface="Times New Roman"/>
              </a:rPr>
              <a:t>Problem Statement</a:t>
            </a:r>
          </a:p>
        </p:txBody>
      </p:sp>
      <p:sp>
        <p:nvSpPr>
          <p:cNvPr id="8" name="Rectangle 7"/>
          <p:cNvSpPr/>
          <p:nvPr/>
        </p:nvSpPr>
        <p:spPr>
          <a:xfrm>
            <a:off x="594360" y="960120"/>
            <a:ext cx="3520440" cy="1691640"/>
          </a:xfrm>
          <a:prstGeom prst="rect">
            <a:avLst/>
          </a:prstGeom>
          <a:solidFill>
            <a:srgbClr val="F2F2F2"/>
          </a:solidFill>
          <a:ln w="6350">
            <a:solidFill>
              <a:srgbClr val="F769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960120"/>
            <a:ext cx="3520440" cy="2926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996696"/>
            <a:ext cx="3337560" cy="256032"/>
          </a:xfrm>
          <a:prstGeom prst="rect">
            <a:avLst/>
          </a:prstGeom>
          <a:noFill/>
        </p:spPr>
        <p:txBody>
          <a:bodyPr wrap="square">
            <a:spAutoFit/>
          </a:bodyPr>
          <a:lstStyle/>
          <a:p>
            <a:r>
              <a:rPr sz="1300" b="1" i="0">
                <a:solidFill>
                  <a:srgbClr val="FFFFFF"/>
                </a:solidFill>
                <a:latin typeface="Times New Roman"/>
              </a:rPr>
              <a:t>The Dimensionality Dilemma</a:t>
            </a:r>
          </a:p>
        </p:txBody>
      </p:sp>
      <p:sp>
        <p:nvSpPr>
          <p:cNvPr id="11" name="TextBox 10"/>
          <p:cNvSpPr txBox="1"/>
          <p:nvPr/>
        </p:nvSpPr>
        <p:spPr>
          <a:xfrm>
            <a:off x="685800" y="1289304"/>
            <a:ext cx="3337560" cy="1002839"/>
          </a:xfrm>
          <a:prstGeom prst="rect">
            <a:avLst/>
          </a:prstGeom>
          <a:noFill/>
        </p:spPr>
        <p:txBody>
          <a:bodyPr wrap="square">
            <a:spAutoFit/>
          </a:bodyPr>
          <a:lstStyle/>
          <a:p>
            <a:pPr algn="l">
              <a:spcBef>
                <a:spcPts val="100"/>
              </a:spcBef>
              <a:spcAft>
                <a:spcPts val="100"/>
              </a:spcAft>
            </a:pPr>
            <a:r>
              <a:rPr sz="1150" b="0" i="0" dirty="0">
                <a:solidFill>
                  <a:srgbClr val="444444"/>
                </a:solidFill>
                <a:latin typeface="Times New Roman"/>
              </a:rPr>
              <a:t>Modern tabular datasets  especially in cybersecurity and healthcare routinely contain hundreds of features, many redundant, correlated, or</a:t>
            </a:r>
          </a:p>
          <a:p>
            <a:pPr algn="l">
              <a:spcBef>
                <a:spcPts val="100"/>
              </a:spcBef>
              <a:spcAft>
                <a:spcPts val="100"/>
              </a:spcAft>
            </a:pPr>
            <a:r>
              <a:rPr sz="1150" b="0" i="0" dirty="0">
                <a:solidFill>
                  <a:srgbClr val="444444"/>
                </a:solidFill>
                <a:latin typeface="Times New Roman"/>
              </a:rPr>
              <a:t>noise-laden. High dimensionality increases complexity and overfitting risk.</a:t>
            </a:r>
          </a:p>
        </p:txBody>
      </p:sp>
      <p:sp>
        <p:nvSpPr>
          <p:cNvPr id="12" name="Rectangle 11"/>
          <p:cNvSpPr/>
          <p:nvPr/>
        </p:nvSpPr>
        <p:spPr>
          <a:xfrm>
            <a:off x="4315968" y="960120"/>
            <a:ext cx="3520440" cy="1691640"/>
          </a:xfrm>
          <a:prstGeom prst="rect">
            <a:avLst/>
          </a:prstGeom>
          <a:solidFill>
            <a:srgbClr val="F2F2F2"/>
          </a:solidFill>
          <a:ln w="6350">
            <a:solidFill>
              <a:srgbClr val="F769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960120"/>
            <a:ext cx="3520440" cy="2926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07408" y="996696"/>
            <a:ext cx="3337560" cy="256032"/>
          </a:xfrm>
          <a:prstGeom prst="rect">
            <a:avLst/>
          </a:prstGeom>
          <a:noFill/>
        </p:spPr>
        <p:txBody>
          <a:bodyPr wrap="square">
            <a:spAutoFit/>
          </a:bodyPr>
          <a:lstStyle/>
          <a:p>
            <a:r>
              <a:rPr sz="1300" b="1" i="0">
                <a:solidFill>
                  <a:srgbClr val="FFFFFF"/>
                </a:solidFill>
                <a:latin typeface="Times New Roman"/>
              </a:rPr>
              <a:t>Evaluation Circularity</a:t>
            </a:r>
          </a:p>
        </p:txBody>
      </p:sp>
      <p:sp>
        <p:nvSpPr>
          <p:cNvPr id="15" name="TextBox 14"/>
          <p:cNvSpPr txBox="1"/>
          <p:nvPr/>
        </p:nvSpPr>
        <p:spPr>
          <a:xfrm>
            <a:off x="4407408" y="1289304"/>
            <a:ext cx="3337560" cy="1002839"/>
          </a:xfrm>
          <a:prstGeom prst="rect">
            <a:avLst/>
          </a:prstGeom>
          <a:noFill/>
        </p:spPr>
        <p:txBody>
          <a:bodyPr wrap="square">
            <a:spAutoFit/>
          </a:bodyPr>
          <a:lstStyle/>
          <a:p>
            <a:pPr algn="l">
              <a:spcBef>
                <a:spcPts val="100"/>
              </a:spcBef>
              <a:spcAft>
                <a:spcPts val="100"/>
              </a:spcAft>
            </a:pPr>
            <a:r>
              <a:rPr sz="1150" b="0" i="0" dirty="0">
                <a:solidFill>
                  <a:srgbClr val="444444"/>
                </a:solidFill>
                <a:latin typeface="Times New Roman"/>
              </a:rPr>
              <a:t>A pervasive flaw in feature selection research: evaluating selected features</a:t>
            </a:r>
            <a:r>
              <a:rPr lang="en-US" sz="1150" b="0" i="0" dirty="0">
                <a:solidFill>
                  <a:srgbClr val="444444"/>
                </a:solidFill>
                <a:latin typeface="Times New Roman"/>
              </a:rPr>
              <a:t> </a:t>
            </a:r>
            <a:r>
              <a:rPr sz="1150" b="0" i="0" dirty="0">
                <a:solidFill>
                  <a:srgbClr val="444444"/>
                </a:solidFill>
                <a:latin typeface="Times New Roman"/>
              </a:rPr>
              <a:t>on the same distribution used for selection artificially inflates performance</a:t>
            </a:r>
          </a:p>
          <a:p>
            <a:pPr algn="l">
              <a:spcBef>
                <a:spcPts val="100"/>
              </a:spcBef>
              <a:spcAft>
                <a:spcPts val="100"/>
              </a:spcAft>
            </a:pPr>
            <a:r>
              <a:rPr sz="1150" b="0" i="0" dirty="0">
                <a:solidFill>
                  <a:srgbClr val="444444"/>
                </a:solidFill>
                <a:latin typeface="Times New Roman"/>
              </a:rPr>
              <a:t>and provides no signal about real-world generalization.</a:t>
            </a:r>
          </a:p>
        </p:txBody>
      </p:sp>
      <p:sp>
        <p:nvSpPr>
          <p:cNvPr id="16" name="Rectangle 15"/>
          <p:cNvSpPr/>
          <p:nvPr/>
        </p:nvSpPr>
        <p:spPr>
          <a:xfrm>
            <a:off x="8037576" y="960120"/>
            <a:ext cx="3520440" cy="1691640"/>
          </a:xfrm>
          <a:prstGeom prst="rect">
            <a:avLst/>
          </a:prstGeom>
          <a:solidFill>
            <a:srgbClr val="F2F2F2"/>
          </a:solidFill>
          <a:ln w="6350">
            <a:solidFill>
              <a:srgbClr val="F769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37576" y="960120"/>
            <a:ext cx="3520440" cy="2926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29016" y="996696"/>
            <a:ext cx="3337560" cy="256032"/>
          </a:xfrm>
          <a:prstGeom prst="rect">
            <a:avLst/>
          </a:prstGeom>
          <a:noFill/>
        </p:spPr>
        <p:txBody>
          <a:bodyPr wrap="square">
            <a:spAutoFit/>
          </a:bodyPr>
          <a:lstStyle/>
          <a:p>
            <a:r>
              <a:rPr sz="1300" b="1" i="0">
                <a:solidFill>
                  <a:srgbClr val="FFFFFF"/>
                </a:solidFill>
                <a:latin typeface="Times New Roman"/>
              </a:rPr>
              <a:t>The Generalization Gap</a:t>
            </a:r>
          </a:p>
        </p:txBody>
      </p:sp>
      <p:sp>
        <p:nvSpPr>
          <p:cNvPr id="19" name="TextBox 18"/>
          <p:cNvSpPr txBox="1"/>
          <p:nvPr/>
        </p:nvSpPr>
        <p:spPr>
          <a:xfrm>
            <a:off x="8129016" y="1289304"/>
            <a:ext cx="3337560" cy="1002839"/>
          </a:xfrm>
          <a:prstGeom prst="rect">
            <a:avLst/>
          </a:prstGeom>
          <a:noFill/>
        </p:spPr>
        <p:txBody>
          <a:bodyPr wrap="square">
            <a:spAutoFit/>
          </a:bodyPr>
          <a:lstStyle/>
          <a:p>
            <a:pPr algn="l">
              <a:spcBef>
                <a:spcPts val="100"/>
              </a:spcBef>
              <a:spcAft>
                <a:spcPts val="100"/>
              </a:spcAft>
            </a:pPr>
            <a:r>
              <a:rPr sz="1150" b="0" i="0" dirty="0">
                <a:solidFill>
                  <a:srgbClr val="444444"/>
                </a:solidFill>
                <a:latin typeface="Times New Roman"/>
              </a:rPr>
              <a:t>Feature subsets optimized on one dataset (e.g., NSL-KDD) may collapse</a:t>
            </a:r>
            <a:r>
              <a:rPr lang="en-US" sz="1150" b="0" i="0" dirty="0">
                <a:solidFill>
                  <a:srgbClr val="444444"/>
                </a:solidFill>
                <a:latin typeface="Times New Roman"/>
              </a:rPr>
              <a:t> </a:t>
            </a:r>
            <a:r>
              <a:rPr sz="1150" b="0" i="0" dirty="0">
                <a:solidFill>
                  <a:srgbClr val="444444"/>
                </a:solidFill>
                <a:latin typeface="Times New Roman"/>
              </a:rPr>
              <a:t>when deployed on a different but related distribution (e.g., UNSW-NB15).</a:t>
            </a:r>
          </a:p>
          <a:p>
            <a:pPr algn="l">
              <a:spcBef>
                <a:spcPts val="100"/>
              </a:spcBef>
              <a:spcAft>
                <a:spcPts val="100"/>
              </a:spcAft>
            </a:pPr>
            <a:r>
              <a:rPr sz="1150" b="0" i="0" dirty="0">
                <a:solidFill>
                  <a:srgbClr val="444444"/>
                </a:solidFill>
                <a:latin typeface="Times New Roman"/>
              </a:rPr>
              <a:t>This gap between in-domain accuracy and transfer is the core problem.</a:t>
            </a:r>
          </a:p>
        </p:txBody>
      </p:sp>
      <p:sp>
        <p:nvSpPr>
          <p:cNvPr id="20" name="Rectangle 19"/>
          <p:cNvSpPr/>
          <p:nvPr/>
        </p:nvSpPr>
        <p:spPr>
          <a:xfrm>
            <a:off x="502920" y="2834640"/>
            <a:ext cx="11503152" cy="14173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2944368"/>
            <a:ext cx="11338560" cy="959237"/>
          </a:xfrm>
          <a:prstGeom prst="rect">
            <a:avLst/>
          </a:prstGeom>
          <a:noFill/>
        </p:spPr>
        <p:txBody>
          <a:bodyPr wrap="square">
            <a:spAutoFit/>
          </a:bodyPr>
          <a:lstStyle/>
          <a:p>
            <a:r>
              <a:rPr sz="1400" b="1" i="0" dirty="0">
                <a:latin typeface="Times New Roman"/>
              </a:rPr>
              <a:t>Research Question:</a:t>
            </a:r>
          </a:p>
          <a:p>
            <a:pPr algn="l">
              <a:spcBef>
                <a:spcPts val="400"/>
              </a:spcBef>
              <a:spcAft>
                <a:spcPts val="0"/>
              </a:spcAft>
            </a:pPr>
            <a:r>
              <a:rPr sz="1300" b="0" i="0" dirty="0">
                <a:solidFill>
                  <a:srgbClr val="444444"/>
                </a:solidFill>
                <a:latin typeface="Times New Roman"/>
              </a:rPr>
              <a:t>Do feature subsets selected by Genetic Algorithms to maximize in-domain classification accuracy</a:t>
            </a:r>
          </a:p>
          <a:p>
            <a:r>
              <a:rPr sz="1300" b="0" i="0" dirty="0">
                <a:solidFill>
                  <a:srgbClr val="444444"/>
                </a:solidFill>
                <a:latin typeface="Times New Roman"/>
              </a:rPr>
              <a:t>also generalize to datasets drawn from different but related distributions? Or does optimization</a:t>
            </a:r>
          </a:p>
          <a:p>
            <a:r>
              <a:rPr sz="1300" b="0" i="0" dirty="0">
                <a:solidFill>
                  <a:srgbClr val="444444"/>
                </a:solidFill>
                <a:latin typeface="Times New Roman"/>
              </a:rPr>
              <a:t>for in-domain performance inherently compromise cross-dataset generalization?</a:t>
            </a:r>
          </a:p>
        </p:txBody>
      </p:sp>
      <p:sp>
        <p:nvSpPr>
          <p:cNvPr id="22" name="TextBox 21"/>
          <p:cNvSpPr txBox="1"/>
          <p:nvPr/>
        </p:nvSpPr>
        <p:spPr>
          <a:xfrm>
            <a:off x="594360" y="4389120"/>
            <a:ext cx="11338560" cy="492443"/>
          </a:xfrm>
          <a:prstGeom prst="rect">
            <a:avLst/>
          </a:prstGeom>
          <a:noFill/>
        </p:spPr>
        <p:txBody>
          <a:bodyPr wrap="square">
            <a:spAutoFit/>
          </a:bodyPr>
          <a:lstStyle/>
          <a:p>
            <a:r>
              <a:rPr sz="1300" b="1" i="0" dirty="0">
                <a:solidFill>
                  <a:srgbClr val="F76904"/>
                </a:solidFill>
                <a:latin typeface="Times New Roman"/>
              </a:rPr>
              <a:t>Hypothesis: </a:t>
            </a:r>
            <a:r>
              <a:rPr sz="1300" b="0" i="0" dirty="0">
                <a:solidFill>
                  <a:srgbClr val="444444"/>
                </a:solidFill>
                <a:latin typeface="Times New Roman"/>
              </a:rPr>
              <a:t>GA-selected subsets will demonstrate measurable in-domain accuracy gains but exhibit statistically significant performance degradation on held-out target datasets indicating selection-induced overfitting.</a:t>
            </a:r>
          </a:p>
        </p:txBody>
      </p:sp>
      <p:sp>
        <p:nvSpPr>
          <p:cNvPr id="23" name="Rectangle 22"/>
          <p:cNvSpPr/>
          <p:nvPr/>
        </p:nvSpPr>
        <p:spPr>
          <a:xfrm>
            <a:off x="1143000" y="5120640"/>
            <a:ext cx="2194560" cy="64008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88720" y="5193792"/>
            <a:ext cx="2103120" cy="640080"/>
          </a:xfrm>
          <a:prstGeom prst="rect">
            <a:avLst/>
          </a:prstGeom>
          <a:noFill/>
        </p:spPr>
        <p:txBody>
          <a:bodyPr wrap="square">
            <a:spAutoFit/>
          </a:bodyPr>
          <a:lstStyle/>
          <a:p>
            <a:pPr algn="ctr">
              <a:spcBef>
                <a:spcPts val="0"/>
              </a:spcBef>
              <a:spcAft>
                <a:spcPts val="0"/>
              </a:spcAft>
            </a:pPr>
            <a:r>
              <a:rPr sz="1100" b="1" i="0">
                <a:solidFill>
                  <a:srgbClr val="FFFFFF"/>
                </a:solidFill>
                <a:latin typeface="Times New Roman"/>
              </a:rPr>
              <a:t>Feature
Selection</a:t>
            </a:r>
          </a:p>
        </p:txBody>
      </p:sp>
      <p:sp>
        <p:nvSpPr>
          <p:cNvPr id="25" name="TextBox 24"/>
          <p:cNvSpPr txBox="1"/>
          <p:nvPr/>
        </p:nvSpPr>
        <p:spPr>
          <a:xfrm>
            <a:off x="3410712" y="5285232"/>
            <a:ext cx="256032" cy="320040"/>
          </a:xfrm>
          <a:prstGeom prst="rect">
            <a:avLst/>
          </a:prstGeom>
          <a:noFill/>
        </p:spPr>
        <p:txBody>
          <a:bodyPr wrap="square">
            <a:spAutoFit/>
          </a:bodyPr>
          <a:lstStyle/>
          <a:p>
            <a:pPr algn="ctr">
              <a:spcBef>
                <a:spcPts val="0"/>
              </a:spcBef>
              <a:spcAft>
                <a:spcPts val="0"/>
              </a:spcAft>
            </a:pPr>
            <a:r>
              <a:rPr sz="1800" b="1" i="0">
                <a:solidFill>
                  <a:srgbClr val="F76904"/>
                </a:solidFill>
                <a:latin typeface="Times New Roman"/>
              </a:rPr>
              <a:t>→</a:t>
            </a:r>
          </a:p>
        </p:txBody>
      </p:sp>
      <p:sp>
        <p:nvSpPr>
          <p:cNvPr id="26" name="Rectangle 25"/>
          <p:cNvSpPr/>
          <p:nvPr/>
        </p:nvSpPr>
        <p:spPr>
          <a:xfrm>
            <a:off x="3721608" y="5120640"/>
            <a:ext cx="2194560" cy="6400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67328" y="5193792"/>
            <a:ext cx="2103120" cy="640080"/>
          </a:xfrm>
          <a:prstGeom prst="rect">
            <a:avLst/>
          </a:prstGeom>
          <a:noFill/>
        </p:spPr>
        <p:txBody>
          <a:bodyPr wrap="square">
            <a:spAutoFit/>
          </a:bodyPr>
          <a:lstStyle/>
          <a:p>
            <a:pPr algn="ctr">
              <a:spcBef>
                <a:spcPts val="0"/>
              </a:spcBef>
              <a:spcAft>
                <a:spcPts val="0"/>
              </a:spcAft>
            </a:pPr>
            <a:r>
              <a:rPr sz="1100" b="0" i="0">
                <a:solidFill>
                  <a:srgbClr val="0E2841"/>
                </a:solidFill>
                <a:latin typeface="Times New Roman"/>
              </a:rPr>
              <a:t>Dataset-Specific
Features</a:t>
            </a:r>
          </a:p>
        </p:txBody>
      </p:sp>
      <p:sp>
        <p:nvSpPr>
          <p:cNvPr id="28" name="TextBox 27"/>
          <p:cNvSpPr txBox="1"/>
          <p:nvPr/>
        </p:nvSpPr>
        <p:spPr>
          <a:xfrm>
            <a:off x="5989320" y="5285232"/>
            <a:ext cx="256032" cy="320040"/>
          </a:xfrm>
          <a:prstGeom prst="rect">
            <a:avLst/>
          </a:prstGeom>
          <a:noFill/>
        </p:spPr>
        <p:txBody>
          <a:bodyPr wrap="square">
            <a:spAutoFit/>
          </a:bodyPr>
          <a:lstStyle/>
          <a:p>
            <a:pPr algn="ctr">
              <a:spcBef>
                <a:spcPts val="0"/>
              </a:spcBef>
              <a:spcAft>
                <a:spcPts val="0"/>
              </a:spcAft>
            </a:pPr>
            <a:r>
              <a:rPr sz="1800" b="1" i="0">
                <a:solidFill>
                  <a:srgbClr val="F76904"/>
                </a:solidFill>
                <a:latin typeface="Times New Roman"/>
              </a:rPr>
              <a:t>→</a:t>
            </a:r>
          </a:p>
        </p:txBody>
      </p:sp>
      <p:sp>
        <p:nvSpPr>
          <p:cNvPr id="29" name="Rectangle 28"/>
          <p:cNvSpPr/>
          <p:nvPr/>
        </p:nvSpPr>
        <p:spPr>
          <a:xfrm>
            <a:off x="6300216" y="5120640"/>
            <a:ext cx="2194560" cy="6400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45936" y="5193792"/>
            <a:ext cx="2103120" cy="640080"/>
          </a:xfrm>
          <a:prstGeom prst="rect">
            <a:avLst/>
          </a:prstGeom>
          <a:noFill/>
        </p:spPr>
        <p:txBody>
          <a:bodyPr wrap="square">
            <a:spAutoFit/>
          </a:bodyPr>
          <a:lstStyle/>
          <a:p>
            <a:pPr algn="ctr">
              <a:spcBef>
                <a:spcPts val="0"/>
              </a:spcBef>
              <a:spcAft>
                <a:spcPts val="0"/>
              </a:spcAft>
            </a:pPr>
            <a:r>
              <a:rPr sz="1100" b="0" i="0">
                <a:solidFill>
                  <a:srgbClr val="0E2841"/>
                </a:solidFill>
                <a:latin typeface="Times New Roman"/>
              </a:rPr>
              <a:t>Deployment
Mismatch</a:t>
            </a:r>
          </a:p>
        </p:txBody>
      </p:sp>
      <p:sp>
        <p:nvSpPr>
          <p:cNvPr id="31" name="TextBox 30"/>
          <p:cNvSpPr txBox="1"/>
          <p:nvPr/>
        </p:nvSpPr>
        <p:spPr>
          <a:xfrm>
            <a:off x="8567928" y="5285232"/>
            <a:ext cx="256032" cy="320040"/>
          </a:xfrm>
          <a:prstGeom prst="rect">
            <a:avLst/>
          </a:prstGeom>
          <a:noFill/>
        </p:spPr>
        <p:txBody>
          <a:bodyPr wrap="square">
            <a:spAutoFit/>
          </a:bodyPr>
          <a:lstStyle/>
          <a:p>
            <a:pPr algn="ctr">
              <a:spcBef>
                <a:spcPts val="0"/>
              </a:spcBef>
              <a:spcAft>
                <a:spcPts val="0"/>
              </a:spcAft>
            </a:pPr>
            <a:r>
              <a:rPr sz="1800" b="1" i="0">
                <a:solidFill>
                  <a:srgbClr val="F76904"/>
                </a:solidFill>
                <a:latin typeface="Times New Roman"/>
              </a:rPr>
              <a:t>→</a:t>
            </a:r>
          </a:p>
        </p:txBody>
      </p:sp>
      <p:sp>
        <p:nvSpPr>
          <p:cNvPr id="32" name="Rectangle 31"/>
          <p:cNvSpPr/>
          <p:nvPr/>
        </p:nvSpPr>
        <p:spPr>
          <a:xfrm>
            <a:off x="8878824" y="5120640"/>
            <a:ext cx="2194560" cy="6400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24544" y="5193792"/>
            <a:ext cx="2103120" cy="640080"/>
          </a:xfrm>
          <a:prstGeom prst="rect">
            <a:avLst/>
          </a:prstGeom>
          <a:noFill/>
        </p:spPr>
        <p:txBody>
          <a:bodyPr wrap="square">
            <a:spAutoFit/>
          </a:bodyPr>
          <a:lstStyle/>
          <a:p>
            <a:pPr algn="ctr">
              <a:spcBef>
                <a:spcPts val="0"/>
              </a:spcBef>
              <a:spcAft>
                <a:spcPts val="0"/>
              </a:spcAft>
            </a:pPr>
            <a:r>
              <a:rPr sz="1100" b="0" i="0">
                <a:solidFill>
                  <a:srgbClr val="0E2841"/>
                </a:solidFill>
                <a:latin typeface="Times New Roman"/>
              </a:rPr>
              <a:t>Performance
Collapse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67258" cy="61904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90488"/>
            <a:ext cx="12191695" cy="66751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 y="6236208"/>
            <a:ext cx="1371600" cy="365760"/>
          </a:xfrm>
          <a:prstGeom prst="rect">
            <a:avLst/>
          </a:prstGeom>
          <a:noFill/>
        </p:spPr>
        <p:txBody>
          <a:bodyPr wrap="square">
            <a:spAutoFit/>
          </a:bodyPr>
          <a:lstStyle/>
          <a:p>
            <a:r>
              <a:rPr sz="2200" b="1" i="0">
                <a:solidFill>
                  <a:srgbClr val="FFFFFF"/>
                </a:solidFill>
                <a:latin typeface="Times New Roman"/>
              </a:rPr>
              <a:t>RIT</a:t>
            </a:r>
          </a:p>
        </p:txBody>
      </p:sp>
      <p:sp>
        <p:nvSpPr>
          <p:cNvPr id="5" name="TextBox 4"/>
          <p:cNvSpPr txBox="1"/>
          <p:nvPr/>
        </p:nvSpPr>
        <p:spPr>
          <a:xfrm>
            <a:off x="7772400" y="6281928"/>
            <a:ext cx="4297680" cy="320040"/>
          </a:xfrm>
          <a:prstGeom prst="rect">
            <a:avLst/>
          </a:prstGeom>
          <a:noFill/>
        </p:spPr>
        <p:txBody>
          <a:bodyPr wrap="square">
            <a:spAutoFit/>
          </a:bodyPr>
          <a:lstStyle/>
          <a:p>
            <a:pPr algn="r">
              <a:spcBef>
                <a:spcPts val="0"/>
              </a:spcBef>
              <a:spcAft>
                <a:spcPts val="0"/>
              </a:spcAft>
            </a:pPr>
            <a:r>
              <a:rPr sz="1100" b="0" i="0">
                <a:solidFill>
                  <a:srgbClr val="FFFFFF"/>
                </a:solidFill>
                <a:latin typeface="Times New Roman"/>
              </a:rPr>
              <a:t>Rochester Institute of Technology  |  3</a:t>
            </a:r>
          </a:p>
        </p:txBody>
      </p:sp>
      <p:sp>
        <p:nvSpPr>
          <p:cNvPr id="6" name="Rectangle 5"/>
          <p:cNvSpPr/>
          <p:nvPr/>
        </p:nvSpPr>
        <p:spPr>
          <a:xfrm>
            <a:off x="502920" y="228600"/>
            <a:ext cx="11503152" cy="5029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56032"/>
            <a:ext cx="11338560" cy="502920"/>
          </a:xfrm>
          <a:prstGeom prst="rect">
            <a:avLst/>
          </a:prstGeom>
          <a:noFill/>
        </p:spPr>
        <p:txBody>
          <a:bodyPr wrap="square">
            <a:spAutoFit/>
          </a:bodyPr>
          <a:lstStyle/>
          <a:p>
            <a:r>
              <a:rPr sz="2600" b="1" i="0">
                <a:solidFill>
                  <a:srgbClr val="FFFFFF"/>
                </a:solidFill>
                <a:latin typeface="Times New Roman"/>
              </a:rPr>
              <a:t>Motivation</a:t>
            </a:r>
          </a:p>
        </p:txBody>
      </p:sp>
      <p:sp>
        <p:nvSpPr>
          <p:cNvPr id="8" name="TextBox 7"/>
          <p:cNvSpPr txBox="1"/>
          <p:nvPr/>
        </p:nvSpPr>
        <p:spPr>
          <a:xfrm>
            <a:off x="594360" y="868680"/>
            <a:ext cx="5394960" cy="2898229"/>
          </a:xfrm>
          <a:prstGeom prst="rect">
            <a:avLst/>
          </a:prstGeom>
          <a:noFill/>
        </p:spPr>
        <p:txBody>
          <a:bodyPr wrap="square">
            <a:spAutoFit/>
          </a:bodyPr>
          <a:lstStyle/>
          <a:p>
            <a:r>
              <a:rPr sz="1500" b="1" i="0" dirty="0">
                <a:latin typeface="Times New Roman"/>
              </a:rPr>
              <a:t>Why Generalization Matters in Practice</a:t>
            </a:r>
          </a:p>
          <a:p>
            <a:pPr algn="l">
              <a:spcBef>
                <a:spcPts val="700"/>
              </a:spcBef>
              <a:spcAft>
                <a:spcPts val="0"/>
              </a:spcAft>
            </a:pPr>
            <a:r>
              <a:rPr sz="1200" b="1" i="0" dirty="0">
                <a:solidFill>
                  <a:srgbClr val="F76904"/>
                </a:solidFill>
                <a:latin typeface="Times New Roman"/>
              </a:rPr>
              <a:t>▸  </a:t>
            </a:r>
            <a:r>
              <a:rPr sz="1200" b="1" i="0" dirty="0">
                <a:latin typeface="Times New Roman"/>
              </a:rPr>
              <a:t>Intrusion Detection at Scale: </a:t>
            </a:r>
            <a:r>
              <a:rPr sz="1200" b="0" i="0" dirty="0">
                <a:solidFill>
                  <a:srgbClr val="444444"/>
                </a:solidFill>
                <a:latin typeface="Times New Roman"/>
              </a:rPr>
              <a:t>Network IDS must generalize across heterogeneous environments. A model trained on one campus network cannot assume its feature signatures hold elsewhere.</a:t>
            </a:r>
          </a:p>
          <a:p>
            <a:pPr algn="l">
              <a:spcBef>
                <a:spcPts val="700"/>
              </a:spcBef>
              <a:spcAft>
                <a:spcPts val="0"/>
              </a:spcAft>
            </a:pPr>
            <a:r>
              <a:rPr sz="1200" b="1" i="0" dirty="0">
                <a:solidFill>
                  <a:srgbClr val="F76904"/>
                </a:solidFill>
                <a:latin typeface="Times New Roman"/>
              </a:rPr>
              <a:t>▸  </a:t>
            </a:r>
            <a:r>
              <a:rPr sz="1200" b="1" i="0" dirty="0">
                <a:latin typeface="Times New Roman"/>
              </a:rPr>
              <a:t>Evolving Threat Landscape: </a:t>
            </a:r>
            <a:r>
              <a:rPr sz="1200" b="0" i="0" dirty="0">
                <a:solidFill>
                  <a:srgbClr val="444444"/>
                </a:solidFill>
                <a:latin typeface="Times New Roman"/>
              </a:rPr>
              <a:t>Attack signatures mutate. Features capturing 2000s-era DoS patterns are irrelevant against modern lateral movement or exfiltration attacks.</a:t>
            </a:r>
          </a:p>
          <a:p>
            <a:pPr algn="l">
              <a:spcBef>
                <a:spcPts val="700"/>
              </a:spcBef>
              <a:spcAft>
                <a:spcPts val="0"/>
              </a:spcAft>
            </a:pPr>
            <a:r>
              <a:rPr sz="1200" b="1" i="0" dirty="0">
                <a:solidFill>
                  <a:srgbClr val="F76904"/>
                </a:solidFill>
                <a:latin typeface="Times New Roman"/>
              </a:rPr>
              <a:t>▸  </a:t>
            </a:r>
            <a:r>
              <a:rPr sz="1200" b="1" i="0" dirty="0">
                <a:latin typeface="Times New Roman"/>
              </a:rPr>
              <a:t>Operational Cost of Failure: </a:t>
            </a:r>
            <a:r>
              <a:rPr sz="1200" b="0" i="0" dirty="0">
                <a:solidFill>
                  <a:srgbClr val="444444"/>
                </a:solidFill>
                <a:latin typeface="Times New Roman"/>
              </a:rPr>
              <a:t>Late discovery of feature-induced model failure triggers costly rework across data pipelines, alert thresholds, and model retraining cycles.</a:t>
            </a:r>
          </a:p>
          <a:p>
            <a:pPr algn="l">
              <a:spcBef>
                <a:spcPts val="700"/>
              </a:spcBef>
              <a:spcAft>
                <a:spcPts val="0"/>
              </a:spcAft>
            </a:pPr>
            <a:r>
              <a:rPr sz="1200" b="1" i="0" dirty="0">
                <a:solidFill>
                  <a:srgbClr val="F76904"/>
                </a:solidFill>
                <a:latin typeface="Times New Roman"/>
              </a:rPr>
              <a:t>▸  </a:t>
            </a:r>
            <a:r>
              <a:rPr sz="1200" b="1" i="0" dirty="0">
                <a:latin typeface="Times New Roman"/>
              </a:rPr>
              <a:t>The Documentation–Operation Gap: </a:t>
            </a:r>
            <a:r>
              <a:rPr sz="1200" b="0" i="0" dirty="0">
                <a:solidFill>
                  <a:srgbClr val="444444"/>
                </a:solidFill>
                <a:latin typeface="Times New Roman"/>
              </a:rPr>
              <a:t>Published benchmarks reward in-domain accuracy. Real deployment rewards robustness. Optimizing for the benchmark does not guarantee operational reliability.</a:t>
            </a:r>
          </a:p>
        </p:txBody>
      </p:sp>
      <p:sp>
        <p:nvSpPr>
          <p:cNvPr id="9" name="Rectangle 8"/>
          <p:cNvSpPr/>
          <p:nvPr/>
        </p:nvSpPr>
        <p:spPr>
          <a:xfrm>
            <a:off x="6263640" y="868680"/>
            <a:ext cx="5623560" cy="5074920"/>
          </a:xfrm>
          <a:prstGeom prst="rect">
            <a:avLst/>
          </a:prstGeom>
          <a:solidFill>
            <a:srgbClr val="F8F8F8"/>
          </a:solidFill>
          <a:ln w="6350">
            <a:solidFill>
              <a:srgbClr val="F769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960120"/>
            <a:ext cx="5440680" cy="457200"/>
          </a:xfrm>
          <a:prstGeom prst="rect">
            <a:avLst/>
          </a:prstGeom>
          <a:noFill/>
        </p:spPr>
        <p:txBody>
          <a:bodyPr wrap="square">
            <a:spAutoFit/>
          </a:bodyPr>
          <a:lstStyle/>
          <a:p>
            <a:r>
              <a:rPr sz="1300" b="1" i="0" dirty="0">
                <a:solidFill>
                  <a:srgbClr val="F76904"/>
                </a:solidFill>
                <a:latin typeface="Times New Roman"/>
              </a:rPr>
              <a:t>Concrete Example: Network Intrusion Detection</a:t>
            </a:r>
          </a:p>
        </p:txBody>
      </p:sp>
      <p:sp>
        <p:nvSpPr>
          <p:cNvPr id="11" name="Rectangle 10"/>
          <p:cNvSpPr/>
          <p:nvPr/>
        </p:nvSpPr>
        <p:spPr>
          <a:xfrm>
            <a:off x="6355080" y="1463040"/>
            <a:ext cx="2377440" cy="9601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508760"/>
            <a:ext cx="2286000" cy="800219"/>
          </a:xfrm>
          <a:prstGeom prst="rect">
            <a:avLst/>
          </a:prstGeom>
          <a:noFill/>
        </p:spPr>
        <p:txBody>
          <a:bodyPr wrap="square">
            <a:spAutoFit/>
          </a:bodyPr>
          <a:lstStyle/>
          <a:p>
            <a:r>
              <a:rPr sz="1300" b="1" i="0" dirty="0">
                <a:latin typeface="Times New Roman"/>
              </a:rPr>
              <a:t>NSL-KDD</a:t>
            </a:r>
          </a:p>
          <a:p>
            <a:r>
              <a:rPr sz="1100" b="0" i="0" dirty="0">
                <a:solidFill>
                  <a:srgbClr val="444444"/>
                </a:solidFill>
                <a:latin typeface="Times New Roman"/>
              </a:rPr>
              <a:t>KDD Cup 1999 derivation
41 features, 5 classes
Source domain</a:t>
            </a:r>
          </a:p>
        </p:txBody>
      </p:sp>
      <p:sp>
        <p:nvSpPr>
          <p:cNvPr id="13" name="TextBox 12"/>
          <p:cNvSpPr txBox="1"/>
          <p:nvPr/>
        </p:nvSpPr>
        <p:spPr>
          <a:xfrm>
            <a:off x="8823960" y="1755648"/>
            <a:ext cx="548640" cy="411480"/>
          </a:xfrm>
          <a:prstGeom prst="rect">
            <a:avLst/>
          </a:prstGeom>
          <a:noFill/>
        </p:spPr>
        <p:txBody>
          <a:bodyPr wrap="square">
            <a:spAutoFit/>
          </a:bodyPr>
          <a:lstStyle/>
          <a:p>
            <a:pPr algn="ctr">
              <a:spcBef>
                <a:spcPts val="0"/>
              </a:spcBef>
              <a:spcAft>
                <a:spcPts val="0"/>
              </a:spcAft>
            </a:pPr>
            <a:r>
              <a:rPr sz="2200" b="1" i="0">
                <a:solidFill>
                  <a:srgbClr val="F76904"/>
                </a:solidFill>
                <a:latin typeface="Times New Roman"/>
              </a:rPr>
              <a:t>→</a:t>
            </a:r>
          </a:p>
        </p:txBody>
      </p:sp>
      <p:sp>
        <p:nvSpPr>
          <p:cNvPr id="14" name="Rectangle 13"/>
          <p:cNvSpPr/>
          <p:nvPr/>
        </p:nvSpPr>
        <p:spPr>
          <a:xfrm>
            <a:off x="9464040" y="1463040"/>
            <a:ext cx="2377440" cy="960120"/>
          </a:xfrm>
          <a:prstGeom prst="rect">
            <a:avLst/>
          </a:prstGeom>
          <a:solidFill>
            <a:srgbClr val="FF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09760" y="1508760"/>
            <a:ext cx="2286000" cy="800219"/>
          </a:xfrm>
          <a:prstGeom prst="rect">
            <a:avLst/>
          </a:prstGeom>
          <a:noFill/>
        </p:spPr>
        <p:txBody>
          <a:bodyPr wrap="square">
            <a:spAutoFit/>
          </a:bodyPr>
          <a:lstStyle/>
          <a:p>
            <a:r>
              <a:rPr sz="1300" b="1" i="0" dirty="0">
                <a:latin typeface="Times New Roman"/>
              </a:rPr>
              <a:t>UNSW-NB15</a:t>
            </a:r>
          </a:p>
          <a:p>
            <a:r>
              <a:rPr sz="1100" b="0" i="0" dirty="0">
                <a:solidFill>
                  <a:srgbClr val="444444"/>
                </a:solidFill>
                <a:latin typeface="Times New Roman"/>
              </a:rPr>
              <a:t>Contemporary attacks
49 features, 9 classes
Target domain</a:t>
            </a:r>
          </a:p>
        </p:txBody>
      </p:sp>
      <p:sp>
        <p:nvSpPr>
          <p:cNvPr id="16" name="Rectangle 15"/>
          <p:cNvSpPr/>
          <p:nvPr/>
        </p:nvSpPr>
        <p:spPr>
          <a:xfrm>
            <a:off x="6355080" y="2578608"/>
            <a:ext cx="5440680" cy="749808"/>
          </a:xfrm>
          <a:prstGeom prst="rect">
            <a:avLst/>
          </a:prstGeom>
          <a:solidFill>
            <a:srgbClr val="FF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2624328"/>
            <a:ext cx="5257800" cy="453970"/>
          </a:xfrm>
          <a:prstGeom prst="rect">
            <a:avLst/>
          </a:prstGeom>
          <a:noFill/>
        </p:spPr>
        <p:txBody>
          <a:bodyPr wrap="square">
            <a:spAutoFit/>
          </a:bodyPr>
          <a:lstStyle/>
          <a:p>
            <a:r>
              <a:rPr sz="1200" b="1" i="0" dirty="0">
                <a:latin typeface="Times New Roman"/>
              </a:rPr>
              <a:t>Problem: </a:t>
            </a:r>
            <a:r>
              <a:rPr sz="1150" b="0" i="0" dirty="0">
                <a:solidFill>
                  <a:srgbClr val="444444"/>
                </a:solidFill>
                <a:latin typeface="Times New Roman"/>
              </a:rPr>
              <a:t>GA selects features tuned to NSL-KDD's 1999-era traffic patterns specific protocol flags, service names, connection durations.</a:t>
            </a:r>
          </a:p>
        </p:txBody>
      </p:sp>
      <p:sp>
        <p:nvSpPr>
          <p:cNvPr id="18" name="Rectangle 17"/>
          <p:cNvSpPr/>
          <p:nvPr/>
        </p:nvSpPr>
        <p:spPr>
          <a:xfrm>
            <a:off x="6355080" y="3447288"/>
            <a:ext cx="5440680" cy="749808"/>
          </a:xfrm>
          <a:prstGeom prst="rect">
            <a:avLst/>
          </a:prstGeom>
          <a:solidFill>
            <a:srgbClr val="FFD9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3493008"/>
            <a:ext cx="5257800" cy="453970"/>
          </a:xfrm>
          <a:prstGeom prst="rect">
            <a:avLst/>
          </a:prstGeom>
          <a:noFill/>
        </p:spPr>
        <p:txBody>
          <a:bodyPr wrap="square">
            <a:spAutoFit/>
          </a:bodyPr>
          <a:lstStyle/>
          <a:p>
            <a:r>
              <a:rPr sz="1200" b="1" i="0" dirty="0">
                <a:latin typeface="Times New Roman"/>
              </a:rPr>
              <a:t>Consequence: </a:t>
            </a:r>
            <a:r>
              <a:rPr sz="1150" b="0" i="0" dirty="0">
                <a:solidFill>
                  <a:srgbClr val="444444"/>
                </a:solidFill>
                <a:latin typeface="Times New Roman"/>
              </a:rPr>
              <a:t>When deployed against UNSW-NB15's modern attack vectors, these features carry no signal performance collapses.</a:t>
            </a:r>
          </a:p>
        </p:txBody>
      </p:sp>
      <p:sp>
        <p:nvSpPr>
          <p:cNvPr id="20" name="Rectangle 19"/>
          <p:cNvSpPr/>
          <p:nvPr/>
        </p:nvSpPr>
        <p:spPr>
          <a:xfrm>
            <a:off x="6355080" y="4315968"/>
            <a:ext cx="5440680" cy="749808"/>
          </a:xfrm>
          <a:prstGeom prst="rect">
            <a:avLst/>
          </a:prstGeom>
          <a:solidFill>
            <a:srgbClr val="B3F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4361688"/>
            <a:ext cx="5257800" cy="453970"/>
          </a:xfrm>
          <a:prstGeom prst="rect">
            <a:avLst/>
          </a:prstGeom>
          <a:noFill/>
        </p:spPr>
        <p:txBody>
          <a:bodyPr wrap="square">
            <a:spAutoFit/>
          </a:bodyPr>
          <a:lstStyle/>
          <a:p>
            <a:r>
              <a:rPr sz="1200" b="1" i="0" dirty="0">
                <a:latin typeface="Times New Roman"/>
              </a:rPr>
              <a:t>This Research: </a:t>
            </a:r>
            <a:r>
              <a:rPr sz="1150" b="0" i="0" dirty="0">
                <a:solidFill>
                  <a:srgbClr val="444444"/>
                </a:solidFill>
                <a:latin typeface="Times New Roman"/>
              </a:rPr>
              <a:t>We measure exactly how large this collapse is, and whether it is worse for GA-selected features than for traditional baselines.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67258" cy="61904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90488"/>
            <a:ext cx="12191695" cy="66751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 y="6236208"/>
            <a:ext cx="1371600" cy="365760"/>
          </a:xfrm>
          <a:prstGeom prst="rect">
            <a:avLst/>
          </a:prstGeom>
          <a:noFill/>
        </p:spPr>
        <p:txBody>
          <a:bodyPr wrap="square">
            <a:spAutoFit/>
          </a:bodyPr>
          <a:lstStyle/>
          <a:p>
            <a:r>
              <a:rPr sz="2200" b="1" i="0">
                <a:solidFill>
                  <a:srgbClr val="FFFFFF"/>
                </a:solidFill>
                <a:latin typeface="Times New Roman"/>
              </a:rPr>
              <a:t>RIT</a:t>
            </a:r>
          </a:p>
        </p:txBody>
      </p:sp>
      <p:sp>
        <p:nvSpPr>
          <p:cNvPr id="5" name="TextBox 4"/>
          <p:cNvSpPr txBox="1"/>
          <p:nvPr/>
        </p:nvSpPr>
        <p:spPr>
          <a:xfrm>
            <a:off x="7772400" y="6281928"/>
            <a:ext cx="4297680" cy="320040"/>
          </a:xfrm>
          <a:prstGeom prst="rect">
            <a:avLst/>
          </a:prstGeom>
          <a:noFill/>
        </p:spPr>
        <p:txBody>
          <a:bodyPr wrap="square">
            <a:spAutoFit/>
          </a:bodyPr>
          <a:lstStyle/>
          <a:p>
            <a:pPr algn="r">
              <a:spcBef>
                <a:spcPts val="0"/>
              </a:spcBef>
              <a:spcAft>
                <a:spcPts val="0"/>
              </a:spcAft>
            </a:pPr>
            <a:r>
              <a:rPr sz="1100" b="0" i="0">
                <a:solidFill>
                  <a:srgbClr val="FFFFFF"/>
                </a:solidFill>
                <a:latin typeface="Times New Roman"/>
              </a:rPr>
              <a:t>Rochester Institute of Technology  |  4</a:t>
            </a:r>
          </a:p>
        </p:txBody>
      </p:sp>
      <p:sp>
        <p:nvSpPr>
          <p:cNvPr id="6" name="Rectangle 5"/>
          <p:cNvSpPr/>
          <p:nvPr/>
        </p:nvSpPr>
        <p:spPr>
          <a:xfrm>
            <a:off x="502920" y="228600"/>
            <a:ext cx="11503152" cy="5029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56032"/>
            <a:ext cx="11338560" cy="502920"/>
          </a:xfrm>
          <a:prstGeom prst="rect">
            <a:avLst/>
          </a:prstGeom>
          <a:noFill/>
        </p:spPr>
        <p:txBody>
          <a:bodyPr wrap="square">
            <a:spAutoFit/>
          </a:bodyPr>
          <a:lstStyle/>
          <a:p>
            <a:r>
              <a:rPr sz="2600" b="1" i="0">
                <a:solidFill>
                  <a:srgbClr val="FFFFFF"/>
                </a:solidFill>
                <a:latin typeface="Times New Roman"/>
              </a:rPr>
              <a:t>Related Work</a:t>
            </a:r>
          </a:p>
        </p:txBody>
      </p:sp>
      <p:sp>
        <p:nvSpPr>
          <p:cNvPr id="8" name="TextBox 7"/>
          <p:cNvSpPr txBox="1"/>
          <p:nvPr/>
        </p:nvSpPr>
        <p:spPr>
          <a:xfrm>
            <a:off x="594360" y="868680"/>
            <a:ext cx="5394960" cy="4078039"/>
          </a:xfrm>
          <a:prstGeom prst="rect">
            <a:avLst/>
          </a:prstGeom>
          <a:noFill/>
        </p:spPr>
        <p:txBody>
          <a:bodyPr wrap="square">
            <a:spAutoFit/>
          </a:bodyPr>
          <a:lstStyle/>
          <a:p>
            <a:pPr algn="l">
              <a:spcBef>
                <a:spcPts val="800"/>
              </a:spcBef>
              <a:spcAft>
                <a:spcPts val="200"/>
              </a:spcAft>
            </a:pPr>
            <a:r>
              <a:rPr sz="1300" b="1" i="0" dirty="0">
                <a:solidFill>
                  <a:srgbClr val="F76904"/>
                </a:solidFill>
                <a:latin typeface="Times New Roman"/>
              </a:rPr>
              <a:t>Filter Methods</a:t>
            </a:r>
          </a:p>
          <a:p>
            <a:pPr algn="l">
              <a:spcBef>
                <a:spcPts val="300"/>
              </a:spcBef>
              <a:spcAft>
                <a:spcPts val="100"/>
              </a:spcAft>
            </a:pPr>
            <a:r>
              <a:rPr sz="1150" b="1" i="0" dirty="0">
                <a:solidFill>
                  <a:srgbClr val="F76904"/>
                </a:solidFill>
                <a:latin typeface="Times New Roman"/>
              </a:rPr>
              <a:t>• </a:t>
            </a:r>
            <a:r>
              <a:rPr sz="1150" b="0" i="0" dirty="0">
                <a:solidFill>
                  <a:srgbClr val="444444"/>
                </a:solidFill>
                <a:latin typeface="Times New Roman"/>
              </a:rPr>
              <a:t>Chi-Square test  univariate feature ranking by class dependency [Liu &amp; Yu, 2005].</a:t>
            </a:r>
          </a:p>
          <a:p>
            <a:pPr algn="l">
              <a:spcBef>
                <a:spcPts val="300"/>
              </a:spcBef>
              <a:spcAft>
                <a:spcPts val="100"/>
              </a:spcAft>
            </a:pPr>
            <a:r>
              <a:rPr sz="1150" b="1" i="0" dirty="0">
                <a:solidFill>
                  <a:srgbClr val="F76904"/>
                </a:solidFill>
                <a:latin typeface="Times New Roman"/>
              </a:rPr>
              <a:t>• </a:t>
            </a:r>
            <a:r>
              <a:rPr sz="1150" b="0" i="0" dirty="0">
                <a:solidFill>
                  <a:srgbClr val="444444"/>
                </a:solidFill>
                <a:latin typeface="Times New Roman"/>
              </a:rPr>
              <a:t>Mutual Information (MRMR)  maximizes relevance, minimizes redundancy [Peng et al., 2005].</a:t>
            </a:r>
          </a:p>
          <a:p>
            <a:pPr algn="l">
              <a:spcBef>
                <a:spcPts val="300"/>
              </a:spcBef>
              <a:spcAft>
                <a:spcPts val="100"/>
              </a:spcAft>
            </a:pPr>
            <a:r>
              <a:rPr sz="1150" b="1" i="0" dirty="0">
                <a:solidFill>
                  <a:srgbClr val="F76904"/>
                </a:solidFill>
                <a:latin typeface="Times New Roman"/>
              </a:rPr>
              <a:t>• </a:t>
            </a:r>
            <a:r>
              <a:rPr sz="1150" b="0" i="0" dirty="0">
                <a:solidFill>
                  <a:srgbClr val="444444"/>
                </a:solidFill>
                <a:latin typeface="Times New Roman"/>
              </a:rPr>
              <a:t>L1 Logistic Regression embedded sparsity-inducing selector.</a:t>
            </a:r>
          </a:p>
          <a:p>
            <a:pPr algn="l">
              <a:spcBef>
                <a:spcPts val="300"/>
              </a:spcBef>
              <a:spcAft>
                <a:spcPts val="100"/>
              </a:spcAft>
            </a:pPr>
            <a:r>
              <a:rPr sz="1150" b="1" i="0" dirty="0">
                <a:solidFill>
                  <a:srgbClr val="F76904"/>
                </a:solidFill>
                <a:latin typeface="Times New Roman"/>
              </a:rPr>
              <a:t>• </a:t>
            </a:r>
            <a:r>
              <a:rPr sz="1150" b="0" i="0" dirty="0">
                <a:solidFill>
                  <a:srgbClr val="444444"/>
                </a:solidFill>
                <a:latin typeface="Times New Roman"/>
              </a:rPr>
              <a:t>Random Forest Importance tree-based impurity reduction scores.</a:t>
            </a:r>
          </a:p>
          <a:p>
            <a:pPr algn="l">
              <a:spcBef>
                <a:spcPts val="800"/>
              </a:spcBef>
              <a:spcAft>
                <a:spcPts val="200"/>
              </a:spcAft>
            </a:pPr>
            <a:r>
              <a:rPr sz="1300" b="1" i="0" dirty="0">
                <a:solidFill>
                  <a:srgbClr val="F76904"/>
                </a:solidFill>
                <a:latin typeface="Times New Roman"/>
              </a:rPr>
              <a:t>Wrapper / GA-Based Selection</a:t>
            </a:r>
          </a:p>
          <a:p>
            <a:pPr algn="l">
              <a:spcBef>
                <a:spcPts val="300"/>
              </a:spcBef>
              <a:spcAft>
                <a:spcPts val="100"/>
              </a:spcAft>
            </a:pPr>
            <a:r>
              <a:rPr sz="1150" b="1" i="0" dirty="0">
                <a:solidFill>
                  <a:srgbClr val="F76904"/>
                </a:solidFill>
                <a:latin typeface="Times New Roman"/>
              </a:rPr>
              <a:t>• </a:t>
            </a:r>
            <a:r>
              <a:rPr sz="1150" b="0" i="0" dirty="0">
                <a:solidFill>
                  <a:srgbClr val="444444"/>
                </a:solidFill>
                <a:latin typeface="Times New Roman"/>
              </a:rPr>
              <a:t>John et al. (1994) seminal wrapper framework using cross-validated accuracy as search criterion.</a:t>
            </a:r>
          </a:p>
          <a:p>
            <a:pPr algn="l">
              <a:spcBef>
                <a:spcPts val="300"/>
              </a:spcBef>
              <a:spcAft>
                <a:spcPts val="100"/>
              </a:spcAft>
            </a:pPr>
            <a:r>
              <a:rPr sz="1150" b="1" i="0" dirty="0">
                <a:solidFill>
                  <a:srgbClr val="F76904"/>
                </a:solidFill>
                <a:latin typeface="Times New Roman"/>
              </a:rPr>
              <a:t>• </a:t>
            </a:r>
            <a:r>
              <a:rPr sz="1150" b="0" i="0" dirty="0">
                <a:solidFill>
                  <a:srgbClr val="444444"/>
                </a:solidFill>
                <a:latin typeface="Times New Roman"/>
              </a:rPr>
              <a:t>Chandrashekar &amp; Sahin (2014) survey of GA-based FS: binary encoding, fitness-guided search.</a:t>
            </a:r>
          </a:p>
          <a:p>
            <a:pPr algn="l">
              <a:spcBef>
                <a:spcPts val="300"/>
              </a:spcBef>
              <a:spcAft>
                <a:spcPts val="100"/>
              </a:spcAft>
            </a:pPr>
            <a:r>
              <a:rPr sz="1150" b="1" i="0" dirty="0">
                <a:solidFill>
                  <a:srgbClr val="F76904"/>
                </a:solidFill>
                <a:latin typeface="Times New Roman"/>
              </a:rPr>
              <a:t>• </a:t>
            </a:r>
            <a:r>
              <a:rPr sz="1150" b="0" i="0" dirty="0">
                <a:solidFill>
                  <a:srgbClr val="444444"/>
                </a:solidFill>
                <a:latin typeface="Times New Roman"/>
              </a:rPr>
              <a:t>Limitation: all prior GA-FS work evaluates in-domain only cross-dataset transfer unstudied.</a:t>
            </a:r>
          </a:p>
          <a:p>
            <a:pPr algn="l">
              <a:spcBef>
                <a:spcPts val="800"/>
              </a:spcBef>
              <a:spcAft>
                <a:spcPts val="200"/>
              </a:spcAft>
            </a:pPr>
            <a:r>
              <a:rPr sz="1300" b="1" i="0" dirty="0">
                <a:solidFill>
                  <a:srgbClr val="F76904"/>
                </a:solidFill>
                <a:latin typeface="Times New Roman"/>
              </a:rPr>
              <a:t>Network Intrusion Datasets</a:t>
            </a:r>
          </a:p>
          <a:p>
            <a:pPr algn="l">
              <a:spcBef>
                <a:spcPts val="300"/>
              </a:spcBef>
              <a:spcAft>
                <a:spcPts val="100"/>
              </a:spcAft>
            </a:pPr>
            <a:r>
              <a:rPr sz="1150" b="1" i="0" dirty="0">
                <a:solidFill>
                  <a:srgbClr val="F76904"/>
                </a:solidFill>
                <a:latin typeface="Times New Roman"/>
              </a:rPr>
              <a:t>• </a:t>
            </a:r>
            <a:r>
              <a:rPr sz="1150" b="0" i="0" dirty="0">
                <a:solidFill>
                  <a:srgbClr val="444444"/>
                </a:solidFill>
                <a:latin typeface="Times New Roman"/>
              </a:rPr>
              <a:t>NSL-KDD [</a:t>
            </a:r>
            <a:r>
              <a:rPr sz="1150" b="0" i="0" dirty="0" err="1">
                <a:solidFill>
                  <a:srgbClr val="444444"/>
                </a:solidFill>
                <a:latin typeface="Times New Roman"/>
              </a:rPr>
              <a:t>Tavallaee</a:t>
            </a:r>
            <a:r>
              <a:rPr sz="1150" b="0" i="0" dirty="0">
                <a:solidFill>
                  <a:srgbClr val="444444"/>
                </a:solidFill>
                <a:latin typeface="Times New Roman"/>
              </a:rPr>
              <a:t> et al., 2009] corrected KDD Cup 1999; 41 features, 5 traffic classes.</a:t>
            </a:r>
          </a:p>
          <a:p>
            <a:pPr algn="l">
              <a:spcBef>
                <a:spcPts val="300"/>
              </a:spcBef>
              <a:spcAft>
                <a:spcPts val="100"/>
              </a:spcAft>
            </a:pPr>
            <a:r>
              <a:rPr sz="1150" b="1" i="0" dirty="0">
                <a:solidFill>
                  <a:srgbClr val="F76904"/>
                </a:solidFill>
                <a:latin typeface="Times New Roman"/>
              </a:rPr>
              <a:t>• </a:t>
            </a:r>
            <a:r>
              <a:rPr sz="1150" b="0" i="0" dirty="0">
                <a:solidFill>
                  <a:srgbClr val="444444"/>
                </a:solidFill>
                <a:latin typeface="Times New Roman"/>
              </a:rPr>
              <a:t>UNSW-NB15 [Moustafa &amp; Slay, 2015] contemporary attack profiles; 49 features, 9 classes.</a:t>
            </a:r>
          </a:p>
        </p:txBody>
      </p:sp>
      <p:sp>
        <p:nvSpPr>
          <p:cNvPr id="9" name="Rectangle 8"/>
          <p:cNvSpPr/>
          <p:nvPr/>
        </p:nvSpPr>
        <p:spPr>
          <a:xfrm>
            <a:off x="6263640" y="868680"/>
            <a:ext cx="5623560" cy="5074920"/>
          </a:xfrm>
          <a:prstGeom prst="rect">
            <a:avLst/>
          </a:prstGeom>
          <a:solidFill>
            <a:srgbClr val="F5F5F5"/>
          </a:solidFill>
          <a:ln w="6350">
            <a:solidFill>
              <a:srgbClr val="F7690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987552"/>
            <a:ext cx="5440680" cy="292388"/>
          </a:xfrm>
          <a:prstGeom prst="rect">
            <a:avLst/>
          </a:prstGeom>
          <a:noFill/>
        </p:spPr>
        <p:txBody>
          <a:bodyPr wrap="square">
            <a:spAutoFit/>
          </a:bodyPr>
          <a:lstStyle/>
          <a:p>
            <a:r>
              <a:rPr sz="1300" b="1" i="0" dirty="0">
                <a:latin typeface="Times New Roman"/>
              </a:rPr>
              <a:t>What Prior Work Does Not Address</a:t>
            </a:r>
          </a:p>
        </p:txBody>
      </p:sp>
      <p:sp>
        <p:nvSpPr>
          <p:cNvPr id="11" name="TextBox 10"/>
          <p:cNvSpPr txBox="1"/>
          <p:nvPr/>
        </p:nvSpPr>
        <p:spPr>
          <a:xfrm>
            <a:off x="6355080" y="1417320"/>
            <a:ext cx="5440680" cy="1846659"/>
          </a:xfrm>
          <a:prstGeom prst="rect">
            <a:avLst/>
          </a:prstGeom>
          <a:noFill/>
        </p:spPr>
        <p:txBody>
          <a:bodyPr wrap="square">
            <a:spAutoFit/>
          </a:bodyPr>
          <a:lstStyle/>
          <a:p>
            <a:pPr algn="l">
              <a:spcBef>
                <a:spcPts val="600"/>
              </a:spcBef>
              <a:spcAft>
                <a:spcPts val="200"/>
              </a:spcAft>
            </a:pPr>
            <a:r>
              <a:rPr sz="1200" b="1" i="0" dirty="0">
                <a:solidFill>
                  <a:srgbClr val="CC0000"/>
                </a:solidFill>
                <a:latin typeface="Times New Roman"/>
              </a:rPr>
              <a:t>✗  In-domain evaluation only: </a:t>
            </a:r>
            <a:r>
              <a:rPr sz="1150" b="0" i="0" dirty="0">
                <a:solidFill>
                  <a:srgbClr val="444444"/>
                </a:solidFill>
                <a:latin typeface="Times New Roman"/>
              </a:rPr>
              <a:t>Every GA-based FS paper reviewed trains and tests on the same dataset distribution. Cross-dataset transfer is never measured.</a:t>
            </a:r>
          </a:p>
          <a:p>
            <a:pPr algn="l">
              <a:spcBef>
                <a:spcPts val="600"/>
              </a:spcBef>
              <a:spcAft>
                <a:spcPts val="200"/>
              </a:spcAft>
            </a:pPr>
            <a:r>
              <a:rPr sz="1200" b="1" i="0" dirty="0">
                <a:solidFill>
                  <a:srgbClr val="CC0000"/>
                </a:solidFill>
                <a:latin typeface="Times New Roman"/>
              </a:rPr>
              <a:t>✗  No stability analysis: </a:t>
            </a:r>
            <a:r>
              <a:rPr sz="1150" b="0" i="0" dirty="0">
                <a:solidFill>
                  <a:srgbClr val="444444"/>
                </a:solidFill>
                <a:latin typeface="Times New Roman"/>
              </a:rPr>
              <a:t>Jaccard consistency across random seeds is rarely reported; reproducibility of selected subsets is assumed, not verified.</a:t>
            </a:r>
          </a:p>
          <a:p>
            <a:pPr algn="l">
              <a:spcBef>
                <a:spcPts val="600"/>
              </a:spcBef>
              <a:spcAft>
                <a:spcPts val="200"/>
              </a:spcAft>
            </a:pPr>
            <a:r>
              <a:rPr sz="1200" b="1" i="0" dirty="0">
                <a:solidFill>
                  <a:srgbClr val="CC0000"/>
                </a:solidFill>
                <a:latin typeface="Times New Roman"/>
              </a:rPr>
              <a:t>✗  No causal decomposition: </a:t>
            </a:r>
            <a:r>
              <a:rPr sz="1150" b="0" i="0" dirty="0">
                <a:solidFill>
                  <a:srgbClr val="444444"/>
                </a:solidFill>
                <a:latin typeface="Times New Roman"/>
              </a:rPr>
              <a:t>Prior work does not separate the effect of feature compactness from the effect of feature specificity on cross-domain performance.</a:t>
            </a:r>
          </a:p>
          <a:p>
            <a:pPr algn="l">
              <a:spcBef>
                <a:spcPts val="600"/>
              </a:spcBef>
              <a:spcAft>
                <a:spcPts val="200"/>
              </a:spcAft>
            </a:pPr>
            <a:r>
              <a:rPr sz="1200" b="1" i="0" dirty="0">
                <a:solidFill>
                  <a:srgbClr val="CC0000"/>
                </a:solidFill>
                <a:latin typeface="Times New Roman"/>
              </a:rPr>
              <a:t>✗  Benchmark circularity: </a:t>
            </a:r>
            <a:r>
              <a:rPr sz="1150" b="0" i="0" dirty="0">
                <a:solidFill>
                  <a:srgbClr val="444444"/>
                </a:solidFill>
                <a:latin typeface="Times New Roman"/>
              </a:rPr>
              <a:t>Published benchmark scores reward in-domain optimization the very thing that may harm real-world deployment.</a:t>
            </a:r>
          </a:p>
        </p:txBody>
      </p:sp>
      <p:sp>
        <p:nvSpPr>
          <p:cNvPr id="12" name="Rectangle 11"/>
          <p:cNvSpPr/>
          <p:nvPr/>
        </p:nvSpPr>
        <p:spPr>
          <a:xfrm>
            <a:off x="6355080" y="4983480"/>
            <a:ext cx="5440680" cy="86868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5047488"/>
            <a:ext cx="5257800" cy="749808"/>
          </a:xfrm>
          <a:prstGeom prst="rect">
            <a:avLst/>
          </a:prstGeom>
          <a:noFill/>
        </p:spPr>
        <p:txBody>
          <a:bodyPr wrap="square">
            <a:spAutoFit/>
          </a:bodyPr>
          <a:lstStyle/>
          <a:p>
            <a:r>
              <a:rPr sz="1300" b="1" i="0">
                <a:solidFill>
                  <a:srgbClr val="FFFFFF"/>
                </a:solidFill>
                <a:latin typeface="Times New Roman"/>
              </a:rPr>
              <a:t>This Research: </a:t>
            </a:r>
            <a:r>
              <a:rPr sz="1150" b="0" i="0">
                <a:solidFill>
                  <a:srgbClr val="FFFFFF"/>
                </a:solidFill>
                <a:latin typeface="Times New Roman"/>
              </a:rPr>
              <a:t>First systematic evaluation of cross-dataset generalization for GA-selected feature subsets, with stability analysis across 5 random seeds and statistical significance testing against 5 baseline selectors.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67258" cy="61904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90488"/>
            <a:ext cx="12191695" cy="66751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 y="6236208"/>
            <a:ext cx="1371600" cy="365760"/>
          </a:xfrm>
          <a:prstGeom prst="rect">
            <a:avLst/>
          </a:prstGeom>
          <a:noFill/>
        </p:spPr>
        <p:txBody>
          <a:bodyPr wrap="square">
            <a:spAutoFit/>
          </a:bodyPr>
          <a:lstStyle/>
          <a:p>
            <a:r>
              <a:rPr sz="2200" b="1" i="0">
                <a:solidFill>
                  <a:srgbClr val="FFFFFF"/>
                </a:solidFill>
                <a:latin typeface="Times New Roman"/>
              </a:rPr>
              <a:t>RIT</a:t>
            </a:r>
          </a:p>
        </p:txBody>
      </p:sp>
      <p:sp>
        <p:nvSpPr>
          <p:cNvPr id="5" name="TextBox 4"/>
          <p:cNvSpPr txBox="1"/>
          <p:nvPr/>
        </p:nvSpPr>
        <p:spPr>
          <a:xfrm>
            <a:off x="7772400" y="6281928"/>
            <a:ext cx="4297680" cy="320040"/>
          </a:xfrm>
          <a:prstGeom prst="rect">
            <a:avLst/>
          </a:prstGeom>
          <a:noFill/>
        </p:spPr>
        <p:txBody>
          <a:bodyPr wrap="square">
            <a:spAutoFit/>
          </a:bodyPr>
          <a:lstStyle/>
          <a:p>
            <a:pPr algn="r">
              <a:spcBef>
                <a:spcPts val="0"/>
              </a:spcBef>
              <a:spcAft>
                <a:spcPts val="0"/>
              </a:spcAft>
            </a:pPr>
            <a:r>
              <a:rPr sz="1100" b="0" i="0">
                <a:solidFill>
                  <a:srgbClr val="FFFFFF"/>
                </a:solidFill>
                <a:latin typeface="Times New Roman"/>
              </a:rPr>
              <a:t>Rochester Institute of Technology  |  5</a:t>
            </a:r>
          </a:p>
        </p:txBody>
      </p:sp>
      <p:sp>
        <p:nvSpPr>
          <p:cNvPr id="6" name="Rectangle 5"/>
          <p:cNvSpPr/>
          <p:nvPr/>
        </p:nvSpPr>
        <p:spPr>
          <a:xfrm>
            <a:off x="502920" y="228600"/>
            <a:ext cx="11503152" cy="5029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56032"/>
            <a:ext cx="11338560" cy="502920"/>
          </a:xfrm>
          <a:prstGeom prst="rect">
            <a:avLst/>
          </a:prstGeom>
          <a:noFill/>
        </p:spPr>
        <p:txBody>
          <a:bodyPr wrap="square">
            <a:spAutoFit/>
          </a:bodyPr>
          <a:lstStyle/>
          <a:p>
            <a:r>
              <a:rPr sz="2600" b="1" i="0">
                <a:solidFill>
                  <a:srgbClr val="FFFFFF"/>
                </a:solidFill>
                <a:latin typeface="Times New Roman"/>
              </a:rPr>
              <a:t>Methodology</a:t>
            </a:r>
          </a:p>
        </p:txBody>
      </p:sp>
      <p:sp>
        <p:nvSpPr>
          <p:cNvPr id="8" name="TextBox 7"/>
          <p:cNvSpPr txBox="1"/>
          <p:nvPr/>
        </p:nvSpPr>
        <p:spPr>
          <a:xfrm>
            <a:off x="594360" y="868680"/>
            <a:ext cx="5394960" cy="4013919"/>
          </a:xfrm>
          <a:prstGeom prst="rect">
            <a:avLst/>
          </a:prstGeom>
          <a:noFill/>
        </p:spPr>
        <p:txBody>
          <a:bodyPr wrap="square">
            <a:spAutoFit/>
          </a:bodyPr>
          <a:lstStyle/>
          <a:p>
            <a:r>
              <a:rPr sz="1300" b="1" i="0" dirty="0">
                <a:solidFill>
                  <a:srgbClr val="F76904"/>
                </a:solidFill>
                <a:latin typeface="Times New Roman"/>
              </a:rPr>
              <a:t>Binary Chromosome Representation</a:t>
            </a:r>
          </a:p>
          <a:p>
            <a:pPr algn="l">
              <a:spcBef>
                <a:spcPts val="400"/>
              </a:spcBef>
              <a:spcAft>
                <a:spcPts val="0"/>
              </a:spcAft>
            </a:pPr>
            <a:r>
              <a:rPr sz="1200" b="0" i="0" dirty="0">
                <a:solidFill>
                  <a:srgbClr val="444444"/>
                </a:solidFill>
                <a:latin typeface="Times New Roman"/>
              </a:rPr>
              <a:t>Each candidate solution is a binary vector of length n (total features). Bit=1 → feature included; Bit=0 → excluded. NSL-KDD: n=121 (post one-hot encoding). UNSW-NB15: n=49.</a:t>
            </a:r>
          </a:p>
          <a:p>
            <a:pPr algn="l">
              <a:spcBef>
                <a:spcPts val="1000"/>
              </a:spcBef>
              <a:spcAft>
                <a:spcPts val="0"/>
              </a:spcAft>
            </a:pPr>
            <a:r>
              <a:rPr sz="1300" b="1" i="0" dirty="0">
                <a:solidFill>
                  <a:srgbClr val="F76904"/>
                </a:solidFill>
                <a:latin typeface="Times New Roman"/>
              </a:rPr>
              <a:t>Fitness Function</a:t>
            </a:r>
          </a:p>
          <a:p>
            <a:pPr algn="l">
              <a:spcBef>
                <a:spcPts val="400"/>
              </a:spcBef>
              <a:spcAft>
                <a:spcPts val="0"/>
              </a:spcAft>
            </a:pPr>
            <a:r>
              <a:rPr sz="1400" b="1" i="0" dirty="0">
                <a:solidFill>
                  <a:srgbClr val="0E2841"/>
                </a:solidFill>
                <a:latin typeface="Times New Roman"/>
              </a:rPr>
              <a:t>F(S)  =  α · F1_weighted  −  β · |S| / N</a:t>
            </a:r>
          </a:p>
          <a:p>
            <a:pPr algn="l">
              <a:spcBef>
                <a:spcPts val="300"/>
              </a:spcBef>
              <a:spcAft>
                <a:spcPts val="0"/>
              </a:spcAft>
            </a:pPr>
            <a:r>
              <a:rPr sz="1150" b="0" i="0" dirty="0">
                <a:solidFill>
                  <a:srgbClr val="444444"/>
                </a:solidFill>
                <a:latin typeface="Times New Roman"/>
              </a:rPr>
              <a:t>α = 0.9  (accuracy weight)   β = 0.1  (compactness penalty)
|S| = selected features   N = total features</a:t>
            </a:r>
          </a:p>
          <a:p>
            <a:pPr algn="l">
              <a:spcBef>
                <a:spcPts val="300"/>
              </a:spcBef>
              <a:spcAft>
                <a:spcPts val="0"/>
              </a:spcAft>
            </a:pPr>
            <a:r>
              <a:rPr sz="1150" b="0" i="1" dirty="0">
                <a:solidFill>
                  <a:srgbClr val="444444"/>
                </a:solidFill>
                <a:latin typeface="Times New Roman"/>
              </a:rPr>
              <a:t>Prevents trivial solutions (select all / select none) while rewarding both predictive power and compactness.</a:t>
            </a:r>
          </a:p>
          <a:p>
            <a:pPr algn="l">
              <a:spcBef>
                <a:spcPts val="1000"/>
              </a:spcBef>
              <a:spcAft>
                <a:spcPts val="0"/>
              </a:spcAft>
            </a:pPr>
            <a:r>
              <a:rPr sz="1300" b="1" i="0" dirty="0">
                <a:solidFill>
                  <a:srgbClr val="F76904"/>
                </a:solidFill>
                <a:latin typeface="Times New Roman"/>
              </a:rPr>
              <a:t>GA Operators &amp; Configuration</a:t>
            </a:r>
          </a:p>
          <a:p>
            <a:pPr algn="l">
              <a:spcBef>
                <a:spcPts val="400"/>
              </a:spcBef>
              <a:spcAft>
                <a:spcPts val="0"/>
              </a:spcAft>
            </a:pPr>
            <a:r>
              <a:rPr sz="1150" b="1" i="0" dirty="0">
                <a:solidFill>
                  <a:srgbClr val="0E2841"/>
                </a:solidFill>
                <a:latin typeface="Times New Roman"/>
              </a:rPr>
              <a:t>  Population: </a:t>
            </a:r>
            <a:r>
              <a:rPr sz="1150" b="0" i="0" dirty="0">
                <a:solidFill>
                  <a:srgbClr val="444444"/>
                </a:solidFill>
                <a:latin typeface="Times New Roman"/>
              </a:rPr>
              <a:t>50 individuals, 40 generations, patience=8 (early stopping)</a:t>
            </a:r>
          </a:p>
          <a:p>
            <a:pPr algn="l">
              <a:spcBef>
                <a:spcPts val="400"/>
              </a:spcBef>
              <a:spcAft>
                <a:spcPts val="0"/>
              </a:spcAft>
            </a:pPr>
            <a:r>
              <a:rPr sz="1150" b="1" i="0" dirty="0">
                <a:solidFill>
                  <a:srgbClr val="0E2841"/>
                </a:solidFill>
                <a:latin typeface="Times New Roman"/>
              </a:rPr>
              <a:t>  Selection: </a:t>
            </a:r>
            <a:r>
              <a:rPr sz="1150" b="0" i="0" dirty="0">
                <a:solidFill>
                  <a:srgbClr val="444444"/>
                </a:solidFill>
                <a:latin typeface="Times New Roman"/>
              </a:rPr>
              <a:t>Tournament selection, k=3 (balances pressure vs. diversity)</a:t>
            </a:r>
          </a:p>
          <a:p>
            <a:pPr algn="l">
              <a:spcBef>
                <a:spcPts val="400"/>
              </a:spcBef>
              <a:spcAft>
                <a:spcPts val="0"/>
              </a:spcAft>
            </a:pPr>
            <a:r>
              <a:rPr sz="1150" b="1" i="0" dirty="0">
                <a:solidFill>
                  <a:srgbClr val="0E2841"/>
                </a:solidFill>
                <a:latin typeface="Times New Roman"/>
              </a:rPr>
              <a:t>  Crossover: </a:t>
            </a:r>
            <a:r>
              <a:rPr sz="1150" b="0" i="0" dirty="0">
                <a:solidFill>
                  <a:srgbClr val="444444"/>
                </a:solidFill>
                <a:latin typeface="Times New Roman"/>
              </a:rPr>
              <a:t>Single-point, rate=0.8 per pair</a:t>
            </a:r>
          </a:p>
          <a:p>
            <a:pPr algn="l">
              <a:spcBef>
                <a:spcPts val="400"/>
              </a:spcBef>
              <a:spcAft>
                <a:spcPts val="0"/>
              </a:spcAft>
            </a:pPr>
            <a:r>
              <a:rPr sz="1150" b="1" i="0" dirty="0">
                <a:solidFill>
                  <a:srgbClr val="0E2841"/>
                </a:solidFill>
                <a:latin typeface="Times New Roman"/>
              </a:rPr>
              <a:t>  Mutation: </a:t>
            </a:r>
            <a:r>
              <a:rPr sz="1150" b="0" i="0" dirty="0">
                <a:solidFill>
                  <a:srgbClr val="444444"/>
                </a:solidFill>
                <a:latin typeface="Times New Roman"/>
              </a:rPr>
              <a:t>Bit-flip, rate=0.01 per bit (maintains diversity)</a:t>
            </a:r>
          </a:p>
          <a:p>
            <a:pPr algn="l">
              <a:spcBef>
                <a:spcPts val="400"/>
              </a:spcBef>
              <a:spcAft>
                <a:spcPts val="0"/>
              </a:spcAft>
            </a:pPr>
            <a:r>
              <a:rPr sz="1150" b="1" i="0" dirty="0">
                <a:solidFill>
                  <a:srgbClr val="0E2841"/>
                </a:solidFill>
                <a:latin typeface="Times New Roman"/>
              </a:rPr>
              <a:t>  Elitism: </a:t>
            </a:r>
            <a:r>
              <a:rPr sz="1150" b="0" i="0" dirty="0">
                <a:solidFill>
                  <a:srgbClr val="444444"/>
                </a:solidFill>
                <a:latin typeface="Times New Roman"/>
              </a:rPr>
              <a:t>Top 5% preserved each generation (guarantees monotonic improvement)</a:t>
            </a:r>
          </a:p>
          <a:p>
            <a:pPr algn="l">
              <a:spcBef>
                <a:spcPts val="400"/>
              </a:spcBef>
              <a:spcAft>
                <a:spcPts val="0"/>
              </a:spcAft>
            </a:pPr>
            <a:r>
              <a:rPr sz="1150" b="1" i="0" dirty="0">
                <a:solidFill>
                  <a:srgbClr val="0E2841"/>
                </a:solidFill>
                <a:latin typeface="Times New Roman"/>
              </a:rPr>
              <a:t>  Fitness eval: </a:t>
            </a:r>
            <a:r>
              <a:rPr sz="1150" b="0" i="0" dirty="0">
                <a:solidFill>
                  <a:srgbClr val="444444"/>
                </a:solidFill>
                <a:latin typeface="Times New Roman"/>
              </a:rPr>
              <a:t>3-fold CV on training data only no test leakage</a:t>
            </a:r>
          </a:p>
        </p:txBody>
      </p:sp>
      <p:sp>
        <p:nvSpPr>
          <p:cNvPr id="9" name="TextBox 8"/>
          <p:cNvSpPr txBox="1"/>
          <p:nvPr/>
        </p:nvSpPr>
        <p:spPr>
          <a:xfrm>
            <a:off x="6263640" y="868680"/>
            <a:ext cx="5623560" cy="320040"/>
          </a:xfrm>
          <a:prstGeom prst="rect">
            <a:avLst/>
          </a:prstGeom>
          <a:noFill/>
        </p:spPr>
        <p:txBody>
          <a:bodyPr wrap="square">
            <a:spAutoFit/>
          </a:bodyPr>
          <a:lstStyle/>
          <a:p>
            <a:pPr algn="ctr">
              <a:spcBef>
                <a:spcPts val="0"/>
              </a:spcBef>
              <a:spcAft>
                <a:spcPts val="0"/>
              </a:spcAft>
            </a:pPr>
            <a:r>
              <a:rPr sz="1100" b="0" i="1">
                <a:solidFill>
                  <a:srgbClr val="717479"/>
                </a:solidFill>
                <a:latin typeface="Times New Roman"/>
              </a:rPr>
              <a:t>Figure 1: GA Fitness Convergence on NSL-KDD (seed=42)</a:t>
            </a:r>
          </a:p>
        </p:txBody>
      </p:sp>
      <p:pic>
        <p:nvPicPr>
          <p:cNvPr id="10" name="Picture 9" descr="e3_ga_convergence.png"/>
          <p:cNvPicPr>
            <a:picLocks noChangeAspect="1"/>
          </p:cNvPicPr>
          <p:nvPr/>
        </p:nvPicPr>
        <p:blipFill>
          <a:blip r:embed="rId3"/>
          <a:stretch>
            <a:fillRect/>
          </a:stretch>
        </p:blipFill>
        <p:spPr>
          <a:xfrm>
            <a:off x="6263640" y="1207008"/>
            <a:ext cx="5623560" cy="3200400"/>
          </a:xfrm>
          <a:prstGeom prst="rect">
            <a:avLst/>
          </a:prstGeom>
        </p:spPr>
      </p:pic>
      <p:sp>
        <p:nvSpPr>
          <p:cNvPr id="11" name="Rectangle 10"/>
          <p:cNvSpPr/>
          <p:nvPr/>
        </p:nvSpPr>
        <p:spPr>
          <a:xfrm>
            <a:off x="6263640" y="4526280"/>
            <a:ext cx="5623560" cy="109728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4590288"/>
            <a:ext cx="5440680" cy="874598"/>
          </a:xfrm>
          <a:prstGeom prst="rect">
            <a:avLst/>
          </a:prstGeom>
          <a:noFill/>
        </p:spPr>
        <p:txBody>
          <a:bodyPr wrap="square">
            <a:spAutoFit/>
          </a:bodyPr>
          <a:lstStyle/>
          <a:p>
            <a:r>
              <a:rPr sz="1300" b="1" i="0" dirty="0">
                <a:solidFill>
                  <a:srgbClr val="0E2841"/>
                </a:solidFill>
                <a:latin typeface="Times New Roman"/>
              </a:rPr>
              <a:t>Data Leakage Prevention</a:t>
            </a:r>
          </a:p>
          <a:p>
            <a:pPr algn="l">
              <a:spcBef>
                <a:spcPts val="400"/>
              </a:spcBef>
              <a:spcAft>
                <a:spcPts val="0"/>
              </a:spcAft>
            </a:pPr>
            <a:r>
              <a:rPr sz="1150" b="0" i="0" dirty="0">
                <a:solidFill>
                  <a:srgbClr val="444444"/>
                </a:solidFill>
                <a:latin typeface="Times New Roman"/>
              </a:rPr>
              <a:t>All GA optimization including fitness evaluations is performed exclusively on training fold data within each cross-validation split. Test fold data is never observed during selection, ensuring true out-of-sample evaluation.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67258" cy="61904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90488"/>
            <a:ext cx="12191695" cy="66751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 y="6236208"/>
            <a:ext cx="1371600" cy="365760"/>
          </a:xfrm>
          <a:prstGeom prst="rect">
            <a:avLst/>
          </a:prstGeom>
          <a:noFill/>
        </p:spPr>
        <p:txBody>
          <a:bodyPr wrap="square">
            <a:spAutoFit/>
          </a:bodyPr>
          <a:lstStyle/>
          <a:p>
            <a:r>
              <a:rPr sz="2200" b="1" i="0">
                <a:solidFill>
                  <a:srgbClr val="FFFFFF"/>
                </a:solidFill>
                <a:latin typeface="Times New Roman"/>
              </a:rPr>
              <a:t>RIT</a:t>
            </a:r>
          </a:p>
        </p:txBody>
      </p:sp>
      <p:sp>
        <p:nvSpPr>
          <p:cNvPr id="5" name="TextBox 4"/>
          <p:cNvSpPr txBox="1"/>
          <p:nvPr/>
        </p:nvSpPr>
        <p:spPr>
          <a:xfrm>
            <a:off x="7772400" y="6281928"/>
            <a:ext cx="4297680" cy="320040"/>
          </a:xfrm>
          <a:prstGeom prst="rect">
            <a:avLst/>
          </a:prstGeom>
          <a:noFill/>
        </p:spPr>
        <p:txBody>
          <a:bodyPr wrap="square">
            <a:spAutoFit/>
          </a:bodyPr>
          <a:lstStyle/>
          <a:p>
            <a:pPr algn="r">
              <a:spcBef>
                <a:spcPts val="0"/>
              </a:spcBef>
              <a:spcAft>
                <a:spcPts val="0"/>
              </a:spcAft>
            </a:pPr>
            <a:r>
              <a:rPr sz="1100" b="0" i="0">
                <a:solidFill>
                  <a:srgbClr val="FFFFFF"/>
                </a:solidFill>
                <a:latin typeface="Times New Roman"/>
              </a:rPr>
              <a:t>Rochester Institute of Technology  |  6</a:t>
            </a:r>
          </a:p>
        </p:txBody>
      </p:sp>
      <p:sp>
        <p:nvSpPr>
          <p:cNvPr id="6" name="Rectangle 5"/>
          <p:cNvSpPr/>
          <p:nvPr/>
        </p:nvSpPr>
        <p:spPr>
          <a:xfrm>
            <a:off x="502920" y="228600"/>
            <a:ext cx="11503152" cy="5029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2478024"/>
            <a:ext cx="11338560" cy="32004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849624" y="4069824"/>
            <a:ext cx="1536192" cy="62179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4360" y="4746480"/>
            <a:ext cx="1536192" cy="62179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221992" y="4746480"/>
            <a:ext cx="1536192" cy="62179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477256" y="4069824"/>
            <a:ext cx="1536192" cy="62179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94360" y="896112"/>
            <a:ext cx="5257800" cy="347472"/>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950976"/>
            <a:ext cx="5074920" cy="274320"/>
          </a:xfrm>
          <a:prstGeom prst="rect">
            <a:avLst/>
          </a:prstGeom>
          <a:noFill/>
        </p:spPr>
        <p:txBody>
          <a:bodyPr wrap="square">
            <a:spAutoFit/>
          </a:bodyPr>
          <a:lstStyle/>
          <a:p>
            <a:r>
              <a:rPr sz="1200" b="1" i="0">
                <a:solidFill>
                  <a:srgbClr val="FFFFFF"/>
                </a:solidFill>
                <a:latin typeface="Times New Roman"/>
              </a:rPr>
              <a:t>NSL-KDD  [Tavallaee et al., 2009]</a:t>
            </a:r>
          </a:p>
        </p:txBody>
      </p:sp>
      <p:sp>
        <p:nvSpPr>
          <p:cNvPr id="36" name="Rectangle 35"/>
          <p:cNvSpPr/>
          <p:nvPr/>
        </p:nvSpPr>
        <p:spPr>
          <a:xfrm>
            <a:off x="594360" y="1243584"/>
            <a:ext cx="5257800" cy="10698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5800" y="1298448"/>
            <a:ext cx="5074920" cy="960120"/>
          </a:xfrm>
          <a:prstGeom prst="rect">
            <a:avLst/>
          </a:prstGeom>
          <a:noFill/>
        </p:spPr>
        <p:txBody>
          <a:bodyPr wrap="square">
            <a:spAutoFit/>
          </a:bodyPr>
          <a:lstStyle/>
          <a:p>
            <a:pPr algn="l">
              <a:spcBef>
                <a:spcPts val="200"/>
              </a:spcBef>
              <a:spcAft>
                <a:spcPts val="0"/>
              </a:spcAft>
            </a:pPr>
            <a:r>
              <a:rPr sz="1100" b="0" i="0">
                <a:solidFill>
                  <a:srgbClr val="444444"/>
                </a:solidFill>
                <a:latin typeface="Times New Roman"/>
              </a:rPr>
              <a:t>• 41 raw features → 121 post one-hot encoding</a:t>
            </a:r>
          </a:p>
          <a:p>
            <a:pPr algn="l">
              <a:spcBef>
                <a:spcPts val="200"/>
              </a:spcBef>
              <a:spcAft>
                <a:spcPts val="0"/>
              </a:spcAft>
            </a:pPr>
            <a:r>
              <a:rPr sz="1100" b="0" i="0">
                <a:solidFill>
                  <a:srgbClr val="444444"/>
                </a:solidFill>
                <a:latin typeface="Times New Roman"/>
              </a:rPr>
              <a:t>• 5 traffic classes: Normal, DoS, Probe, R2L, U2R</a:t>
            </a:r>
          </a:p>
          <a:p>
            <a:pPr algn="l">
              <a:spcBef>
                <a:spcPts val="200"/>
              </a:spcBef>
              <a:spcAft>
                <a:spcPts val="0"/>
              </a:spcAft>
            </a:pPr>
            <a:r>
              <a:rPr sz="1100" b="0" i="0">
                <a:solidFill>
                  <a:srgbClr val="444444"/>
                </a:solidFill>
                <a:latin typeface="Times New Roman"/>
              </a:rPr>
              <a:t>• 125,973 training / 22,544 test records</a:t>
            </a:r>
          </a:p>
          <a:p>
            <a:pPr algn="l">
              <a:spcBef>
                <a:spcPts val="200"/>
              </a:spcBef>
              <a:spcAft>
                <a:spcPts val="0"/>
              </a:spcAft>
            </a:pPr>
            <a:r>
              <a:rPr sz="1100" b="0" i="0">
                <a:solidFill>
                  <a:srgbClr val="444444"/>
                </a:solidFill>
                <a:latin typeface="Times New Roman"/>
              </a:rPr>
              <a:t>• Source domain for cross-dataset transfer (E7)</a:t>
            </a:r>
          </a:p>
        </p:txBody>
      </p:sp>
      <p:sp>
        <p:nvSpPr>
          <p:cNvPr id="38" name="Rectangle 37"/>
          <p:cNvSpPr/>
          <p:nvPr/>
        </p:nvSpPr>
        <p:spPr>
          <a:xfrm>
            <a:off x="6400800" y="896112"/>
            <a:ext cx="5257800" cy="347472"/>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92240" y="950976"/>
            <a:ext cx="5074920" cy="274320"/>
          </a:xfrm>
          <a:prstGeom prst="rect">
            <a:avLst/>
          </a:prstGeom>
          <a:noFill/>
        </p:spPr>
        <p:txBody>
          <a:bodyPr wrap="square">
            <a:spAutoFit/>
          </a:bodyPr>
          <a:lstStyle/>
          <a:p>
            <a:r>
              <a:rPr sz="1200" b="1" i="0">
                <a:solidFill>
                  <a:srgbClr val="FFFFFF"/>
                </a:solidFill>
                <a:latin typeface="Times New Roman"/>
              </a:rPr>
              <a:t>UNSW-NB15  [Moustafa &amp; Slay, 2015]</a:t>
            </a:r>
          </a:p>
        </p:txBody>
      </p:sp>
      <p:sp>
        <p:nvSpPr>
          <p:cNvPr id="40" name="Rectangle 39"/>
          <p:cNvSpPr/>
          <p:nvPr/>
        </p:nvSpPr>
        <p:spPr>
          <a:xfrm>
            <a:off x="6400800" y="1243584"/>
            <a:ext cx="5257800" cy="10698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92240" y="1298448"/>
            <a:ext cx="5074920" cy="960120"/>
          </a:xfrm>
          <a:prstGeom prst="rect">
            <a:avLst/>
          </a:prstGeom>
          <a:noFill/>
        </p:spPr>
        <p:txBody>
          <a:bodyPr wrap="square">
            <a:spAutoFit/>
          </a:bodyPr>
          <a:lstStyle/>
          <a:p>
            <a:pPr algn="l">
              <a:spcBef>
                <a:spcPts val="200"/>
              </a:spcBef>
              <a:spcAft>
                <a:spcPts val="0"/>
              </a:spcAft>
            </a:pPr>
            <a:r>
              <a:rPr sz="1100" b="0" i="0">
                <a:solidFill>
                  <a:srgbClr val="444444"/>
                </a:solidFill>
                <a:latin typeface="Times New Roman"/>
              </a:rPr>
              <a:t>• 49 features; 9 contemporary attack categories</a:t>
            </a:r>
          </a:p>
          <a:p>
            <a:pPr algn="l">
              <a:spcBef>
                <a:spcPts val="200"/>
              </a:spcBef>
              <a:spcAft>
                <a:spcPts val="0"/>
              </a:spcAft>
            </a:pPr>
            <a:r>
              <a:rPr sz="1100" b="0" i="0">
                <a:solidFill>
                  <a:srgbClr val="444444"/>
                </a:solidFill>
                <a:latin typeface="Times New Roman"/>
              </a:rPr>
              <a:t>• Generated at UNSW Canberra Cyber Range (2015)</a:t>
            </a:r>
          </a:p>
          <a:p>
            <a:pPr algn="l">
              <a:spcBef>
                <a:spcPts val="200"/>
              </a:spcBef>
              <a:spcAft>
                <a:spcPts val="0"/>
              </a:spcAft>
            </a:pPr>
            <a:r>
              <a:rPr sz="1100" b="0" i="0">
                <a:solidFill>
                  <a:srgbClr val="444444"/>
                </a:solidFill>
                <a:latin typeface="Times New Roman"/>
              </a:rPr>
              <a:t>• Training and test splits provided by authors</a:t>
            </a:r>
          </a:p>
          <a:p>
            <a:pPr algn="l">
              <a:spcBef>
                <a:spcPts val="200"/>
              </a:spcBef>
              <a:spcAft>
                <a:spcPts val="0"/>
              </a:spcAft>
            </a:pPr>
            <a:r>
              <a:rPr sz="1100" b="0" i="0">
                <a:solidFill>
                  <a:srgbClr val="444444"/>
                </a:solidFill>
                <a:latin typeface="Times New Roman"/>
              </a:rPr>
              <a:t>• Target domain for cross-dataset transfer (E7)</a:t>
            </a:r>
          </a:p>
        </p:txBody>
      </p:sp>
      <p:sp>
        <p:nvSpPr>
          <p:cNvPr id="42" name="Rectangle 41"/>
          <p:cNvSpPr/>
          <p:nvPr/>
        </p:nvSpPr>
        <p:spPr>
          <a:xfrm>
            <a:off x="594360" y="2468880"/>
            <a:ext cx="11338560" cy="2926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5800" y="2514600"/>
            <a:ext cx="10972800" cy="237744"/>
          </a:xfrm>
          <a:prstGeom prst="rect">
            <a:avLst/>
          </a:prstGeom>
          <a:noFill/>
        </p:spPr>
        <p:txBody>
          <a:bodyPr wrap="square">
            <a:spAutoFit/>
          </a:bodyPr>
          <a:lstStyle/>
          <a:p>
            <a:r>
              <a:rPr sz="1200" b="1" i="0">
                <a:solidFill>
                  <a:srgbClr val="FFFFFF"/>
                </a:solidFill>
                <a:latin typeface="Times New Roman"/>
              </a:rPr>
              <a:t>Preprocessing Pipeline</a:t>
            </a:r>
          </a:p>
        </p:txBody>
      </p:sp>
      <p:sp>
        <p:nvSpPr>
          <p:cNvPr id="44" name="TextBox 43"/>
          <p:cNvSpPr txBox="1"/>
          <p:nvPr/>
        </p:nvSpPr>
        <p:spPr>
          <a:xfrm>
            <a:off x="594360" y="2788920"/>
            <a:ext cx="11338560" cy="700192"/>
          </a:xfrm>
          <a:prstGeom prst="rect">
            <a:avLst/>
          </a:prstGeom>
          <a:noFill/>
        </p:spPr>
        <p:txBody>
          <a:bodyPr wrap="square">
            <a:spAutoFit/>
          </a:bodyPr>
          <a:lstStyle/>
          <a:p>
            <a:pPr algn="l">
              <a:spcBef>
                <a:spcPts val="300"/>
              </a:spcBef>
              <a:spcAft>
                <a:spcPts val="0"/>
              </a:spcAft>
            </a:pPr>
            <a:r>
              <a:rPr sz="1150" b="1" i="0" dirty="0">
                <a:solidFill>
                  <a:srgbClr val="0E2841"/>
                </a:solidFill>
                <a:latin typeface="Times New Roman"/>
              </a:rPr>
              <a:t>  Encoding: </a:t>
            </a:r>
            <a:r>
              <a:rPr sz="1150" b="0" i="0" dirty="0">
                <a:solidFill>
                  <a:srgbClr val="444444"/>
                </a:solidFill>
                <a:latin typeface="Times New Roman"/>
              </a:rPr>
              <a:t>Categorical features (protocol type, service, flag) → ordinal encoding for classifier compatibility</a:t>
            </a:r>
          </a:p>
          <a:p>
            <a:pPr algn="l">
              <a:spcBef>
                <a:spcPts val="300"/>
              </a:spcBef>
              <a:spcAft>
                <a:spcPts val="0"/>
              </a:spcAft>
            </a:pPr>
            <a:r>
              <a:rPr sz="1150" b="1" i="0" dirty="0">
                <a:solidFill>
                  <a:srgbClr val="0E2841"/>
                </a:solidFill>
                <a:latin typeface="Times New Roman"/>
              </a:rPr>
              <a:t>  Scaling: </a:t>
            </a:r>
            <a:r>
              <a:rPr sz="1150" b="0" i="0" dirty="0">
                <a:solidFill>
                  <a:srgbClr val="444444"/>
                </a:solidFill>
                <a:latin typeface="Times New Roman"/>
              </a:rPr>
              <a:t>Min-max normalization to [0,1] prevents SVM/LR from being dominated by high-variance features</a:t>
            </a:r>
          </a:p>
          <a:p>
            <a:pPr algn="l">
              <a:spcBef>
                <a:spcPts val="300"/>
              </a:spcBef>
              <a:spcAft>
                <a:spcPts val="0"/>
              </a:spcAft>
            </a:pPr>
            <a:r>
              <a:rPr sz="1150" b="1" i="0" dirty="0">
                <a:solidFill>
                  <a:srgbClr val="0E2841"/>
                </a:solidFill>
                <a:latin typeface="Times New Roman"/>
              </a:rPr>
              <a:t>  Imbalance: </a:t>
            </a:r>
            <a:r>
              <a:rPr sz="1150" b="0" i="0" dirty="0">
                <a:solidFill>
                  <a:srgbClr val="444444"/>
                </a:solidFill>
                <a:latin typeface="Times New Roman"/>
              </a:rPr>
              <a:t>Stratified CV splits — no SMOTE (avoids synthetic data contaminating generalization estimates)</a:t>
            </a:r>
          </a:p>
        </p:txBody>
      </p:sp>
      <p:sp>
        <p:nvSpPr>
          <p:cNvPr id="45" name="Rectangle 44"/>
          <p:cNvSpPr/>
          <p:nvPr/>
        </p:nvSpPr>
        <p:spPr>
          <a:xfrm>
            <a:off x="594360" y="3457548"/>
            <a:ext cx="11338560" cy="292608"/>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85800" y="3503268"/>
            <a:ext cx="10972800" cy="237744"/>
          </a:xfrm>
          <a:prstGeom prst="rect">
            <a:avLst/>
          </a:prstGeom>
          <a:noFill/>
        </p:spPr>
        <p:txBody>
          <a:bodyPr wrap="square">
            <a:spAutoFit/>
          </a:bodyPr>
          <a:lstStyle/>
          <a:p>
            <a:r>
              <a:rPr sz="1200" b="1" i="0">
                <a:solidFill>
                  <a:srgbClr val="FFFFFF"/>
                </a:solidFill>
                <a:latin typeface="Times New Roman"/>
              </a:rPr>
              <a:t>7-Experiment Pipeline  (orange = GA-based; gray = baseline)</a:t>
            </a:r>
          </a:p>
        </p:txBody>
      </p:sp>
      <p:sp>
        <p:nvSpPr>
          <p:cNvPr id="47" name="Rectangle 46"/>
          <p:cNvSpPr/>
          <p:nvPr/>
        </p:nvSpPr>
        <p:spPr>
          <a:xfrm>
            <a:off x="594360" y="3768072"/>
            <a:ext cx="2670048" cy="74980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67512" y="3822936"/>
            <a:ext cx="2523744" cy="640080"/>
          </a:xfrm>
          <a:prstGeom prst="rect">
            <a:avLst/>
          </a:prstGeom>
          <a:noFill/>
        </p:spPr>
        <p:txBody>
          <a:bodyPr wrap="square">
            <a:spAutoFit/>
          </a:bodyPr>
          <a:lstStyle/>
          <a:p>
            <a:r>
              <a:rPr sz="1200" b="1" i="0">
                <a:solidFill>
                  <a:srgbClr val="0E2841"/>
                </a:solidFill>
                <a:latin typeface="Times New Roman"/>
              </a:rPr>
              <a:t>E1: </a:t>
            </a:r>
          </a:p>
          <a:p>
            <a:pPr algn="l">
              <a:spcBef>
                <a:spcPts val="200"/>
              </a:spcBef>
              <a:spcAft>
                <a:spcPts val="0"/>
              </a:spcAft>
            </a:pPr>
            <a:r>
              <a:rPr sz="1050" b="0" i="0">
                <a:solidFill>
                  <a:srgbClr val="0E2841"/>
                </a:solidFill>
                <a:latin typeface="Times New Roman"/>
              </a:rPr>
              <a:t>NSL-KDD: no feature selection (baseline)</a:t>
            </a:r>
          </a:p>
        </p:txBody>
      </p:sp>
      <p:sp>
        <p:nvSpPr>
          <p:cNvPr id="49" name="Rectangle 48"/>
          <p:cNvSpPr/>
          <p:nvPr/>
        </p:nvSpPr>
        <p:spPr>
          <a:xfrm>
            <a:off x="3419856" y="3768072"/>
            <a:ext cx="2670048" cy="74980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93008" y="3822936"/>
            <a:ext cx="2523744" cy="640080"/>
          </a:xfrm>
          <a:prstGeom prst="rect">
            <a:avLst/>
          </a:prstGeom>
          <a:noFill/>
        </p:spPr>
        <p:txBody>
          <a:bodyPr wrap="square">
            <a:spAutoFit/>
          </a:bodyPr>
          <a:lstStyle/>
          <a:p>
            <a:r>
              <a:rPr sz="1200" b="1" i="0">
                <a:solidFill>
                  <a:srgbClr val="0E2841"/>
                </a:solidFill>
                <a:latin typeface="Times New Roman"/>
              </a:rPr>
              <a:t>E2: </a:t>
            </a:r>
          </a:p>
          <a:p>
            <a:pPr algn="l">
              <a:spcBef>
                <a:spcPts val="200"/>
              </a:spcBef>
              <a:spcAft>
                <a:spcPts val="0"/>
              </a:spcAft>
            </a:pPr>
            <a:r>
              <a:rPr sz="1050" b="0" i="0">
                <a:solidFill>
                  <a:srgbClr val="0E2841"/>
                </a:solidFill>
                <a:latin typeface="Times New Roman"/>
              </a:rPr>
              <a:t>NSL-KDD: 5 traditional selectors × 12 classifiers</a:t>
            </a:r>
          </a:p>
        </p:txBody>
      </p:sp>
      <p:sp>
        <p:nvSpPr>
          <p:cNvPr id="51" name="Rectangle 50"/>
          <p:cNvSpPr/>
          <p:nvPr/>
        </p:nvSpPr>
        <p:spPr>
          <a:xfrm>
            <a:off x="6245352" y="3768072"/>
            <a:ext cx="2670048" cy="7498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18504" y="3822936"/>
            <a:ext cx="2523744" cy="640080"/>
          </a:xfrm>
          <a:prstGeom prst="rect">
            <a:avLst/>
          </a:prstGeom>
          <a:noFill/>
        </p:spPr>
        <p:txBody>
          <a:bodyPr wrap="square">
            <a:spAutoFit/>
          </a:bodyPr>
          <a:lstStyle/>
          <a:p>
            <a:r>
              <a:rPr sz="1200" b="1" i="0">
                <a:solidFill>
                  <a:srgbClr val="FFFFFF"/>
                </a:solidFill>
                <a:latin typeface="Times New Roman"/>
              </a:rPr>
              <a:t>E3: </a:t>
            </a:r>
          </a:p>
          <a:p>
            <a:pPr algn="l">
              <a:spcBef>
                <a:spcPts val="200"/>
              </a:spcBef>
              <a:spcAft>
                <a:spcPts val="0"/>
              </a:spcAft>
            </a:pPr>
            <a:r>
              <a:rPr sz="1050" b="0" i="0">
                <a:solidFill>
                  <a:srgbClr val="FFFFFF"/>
                </a:solidFill>
                <a:latin typeface="Times New Roman"/>
              </a:rPr>
              <a:t>NSL-KDD: GA feature selection, 40 generations</a:t>
            </a:r>
          </a:p>
        </p:txBody>
      </p:sp>
      <p:sp>
        <p:nvSpPr>
          <p:cNvPr id="53" name="Rectangle 52"/>
          <p:cNvSpPr/>
          <p:nvPr/>
        </p:nvSpPr>
        <p:spPr>
          <a:xfrm>
            <a:off x="9070848" y="3768072"/>
            <a:ext cx="2670048" cy="74980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144000" y="3822936"/>
            <a:ext cx="2523744" cy="640080"/>
          </a:xfrm>
          <a:prstGeom prst="rect">
            <a:avLst/>
          </a:prstGeom>
          <a:noFill/>
        </p:spPr>
        <p:txBody>
          <a:bodyPr wrap="square">
            <a:spAutoFit/>
          </a:bodyPr>
          <a:lstStyle/>
          <a:p>
            <a:r>
              <a:rPr sz="1200" b="1" i="0">
                <a:solidFill>
                  <a:srgbClr val="0E2841"/>
                </a:solidFill>
                <a:latin typeface="Times New Roman"/>
              </a:rPr>
              <a:t>E4: </a:t>
            </a:r>
          </a:p>
          <a:p>
            <a:pPr algn="l">
              <a:spcBef>
                <a:spcPts val="200"/>
              </a:spcBef>
              <a:spcAft>
                <a:spcPts val="0"/>
              </a:spcAft>
            </a:pPr>
            <a:r>
              <a:rPr sz="1050" b="0" i="0">
                <a:solidFill>
                  <a:srgbClr val="0E2841"/>
                </a:solidFill>
                <a:latin typeface="Times New Roman"/>
              </a:rPr>
              <a:t>UNSW-NB15: 5 traditional selectors × 12 classifiers</a:t>
            </a:r>
          </a:p>
        </p:txBody>
      </p:sp>
      <p:sp>
        <p:nvSpPr>
          <p:cNvPr id="55" name="Rectangle 54"/>
          <p:cNvSpPr/>
          <p:nvPr/>
        </p:nvSpPr>
        <p:spPr>
          <a:xfrm>
            <a:off x="594360" y="4609320"/>
            <a:ext cx="2670048" cy="7498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67512" y="4664184"/>
            <a:ext cx="2523744" cy="640080"/>
          </a:xfrm>
          <a:prstGeom prst="rect">
            <a:avLst/>
          </a:prstGeom>
          <a:noFill/>
        </p:spPr>
        <p:txBody>
          <a:bodyPr wrap="square">
            <a:spAutoFit/>
          </a:bodyPr>
          <a:lstStyle/>
          <a:p>
            <a:r>
              <a:rPr sz="1200" b="1" i="0">
                <a:solidFill>
                  <a:srgbClr val="FFFFFF"/>
                </a:solidFill>
                <a:latin typeface="Times New Roman"/>
              </a:rPr>
              <a:t>E5: </a:t>
            </a:r>
          </a:p>
          <a:p>
            <a:pPr algn="l">
              <a:spcBef>
                <a:spcPts val="200"/>
              </a:spcBef>
              <a:spcAft>
                <a:spcPts val="0"/>
              </a:spcAft>
            </a:pPr>
            <a:r>
              <a:rPr sz="1050" b="0" i="0">
                <a:solidFill>
                  <a:srgbClr val="FFFFFF"/>
                </a:solidFill>
                <a:latin typeface="Times New Roman"/>
              </a:rPr>
              <a:t>UNSW-NB15: GA feature selection</a:t>
            </a:r>
          </a:p>
        </p:txBody>
      </p:sp>
      <p:sp>
        <p:nvSpPr>
          <p:cNvPr id="57" name="Rectangle 56"/>
          <p:cNvSpPr/>
          <p:nvPr/>
        </p:nvSpPr>
        <p:spPr>
          <a:xfrm>
            <a:off x="3419856" y="4609320"/>
            <a:ext cx="2670048" cy="7498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493008" y="4664184"/>
            <a:ext cx="2523744" cy="640080"/>
          </a:xfrm>
          <a:prstGeom prst="rect">
            <a:avLst/>
          </a:prstGeom>
          <a:noFill/>
        </p:spPr>
        <p:txBody>
          <a:bodyPr wrap="square">
            <a:spAutoFit/>
          </a:bodyPr>
          <a:lstStyle/>
          <a:p>
            <a:r>
              <a:rPr sz="1200" b="1" i="0">
                <a:solidFill>
                  <a:srgbClr val="FFFFFF"/>
                </a:solidFill>
                <a:latin typeface="Times New Roman"/>
              </a:rPr>
              <a:t>E6: </a:t>
            </a:r>
          </a:p>
          <a:p>
            <a:pPr algn="l">
              <a:spcBef>
                <a:spcPts val="200"/>
              </a:spcBef>
              <a:spcAft>
                <a:spcPts val="0"/>
              </a:spcAft>
            </a:pPr>
            <a:r>
              <a:rPr sz="1050" b="0" i="0">
                <a:solidFill>
                  <a:srgbClr val="FFFFFF"/>
                </a:solidFill>
                <a:latin typeface="Times New Roman"/>
              </a:rPr>
              <a:t>NSL-KDD: GA stability, 5 random seeds</a:t>
            </a:r>
          </a:p>
        </p:txBody>
      </p:sp>
      <p:sp>
        <p:nvSpPr>
          <p:cNvPr id="59" name="Rectangle 58"/>
          <p:cNvSpPr/>
          <p:nvPr/>
        </p:nvSpPr>
        <p:spPr>
          <a:xfrm>
            <a:off x="6245352" y="4609320"/>
            <a:ext cx="2670048" cy="7498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318504" y="4664184"/>
            <a:ext cx="2523744" cy="640080"/>
          </a:xfrm>
          <a:prstGeom prst="rect">
            <a:avLst/>
          </a:prstGeom>
          <a:noFill/>
        </p:spPr>
        <p:txBody>
          <a:bodyPr wrap="square">
            <a:spAutoFit/>
          </a:bodyPr>
          <a:lstStyle/>
          <a:p>
            <a:r>
              <a:rPr sz="1200" b="1" i="0">
                <a:solidFill>
                  <a:srgbClr val="FFFFFF"/>
                </a:solidFill>
                <a:latin typeface="Times New Roman"/>
              </a:rPr>
              <a:t>E7: </a:t>
            </a:r>
          </a:p>
          <a:p>
            <a:pPr algn="l">
              <a:spcBef>
                <a:spcPts val="200"/>
              </a:spcBef>
              <a:spcAft>
                <a:spcPts val="0"/>
              </a:spcAft>
            </a:pPr>
            <a:r>
              <a:rPr sz="1050" b="0" i="0">
                <a:solidFill>
                  <a:srgbClr val="FFFFFF"/>
                </a:solidFill>
                <a:latin typeface="Times New Roman"/>
              </a:rPr>
              <a:t>Cross-dataset: NSL-KDD → UNSW-NB15 (ΔM)</a:t>
            </a:r>
          </a:p>
        </p:txBody>
      </p:sp>
      <p:sp>
        <p:nvSpPr>
          <p:cNvPr id="61" name="TextBox 60"/>
          <p:cNvSpPr txBox="1"/>
          <p:nvPr/>
        </p:nvSpPr>
        <p:spPr>
          <a:xfrm>
            <a:off x="594360" y="5760720"/>
            <a:ext cx="11338560" cy="274320"/>
          </a:xfrm>
          <a:prstGeom prst="rect">
            <a:avLst/>
          </a:prstGeom>
          <a:noFill/>
        </p:spPr>
        <p:txBody>
          <a:bodyPr wrap="square">
            <a:spAutoFit/>
          </a:bodyPr>
          <a:lstStyle/>
          <a:p>
            <a:r>
              <a:rPr sz="1100" b="1" i="0">
                <a:solidFill>
                  <a:srgbClr val="0E2841"/>
                </a:solidFill>
                <a:latin typeface="Times New Roman"/>
              </a:rPr>
              <a:t>12 Classifiers: </a:t>
            </a:r>
            <a:r>
              <a:rPr sz="1050" b="0" i="0">
                <a:solidFill>
                  <a:srgbClr val="444444"/>
                </a:solidFill>
                <a:latin typeface="Times New Roman"/>
              </a:rPr>
              <a:t>LR, LinearSVM, DecisionTree, RandomForest, ExtraTrees, KNN, MLP, GBM, HistGBM, XGBoost, LightGBM, CatBoost</a:t>
            </a:r>
          </a:p>
        </p:txBody>
      </p:sp>
      <p:sp>
        <p:nvSpPr>
          <p:cNvPr id="62" name="Rectangle 61"/>
          <p:cNvSpPr/>
          <p:nvPr/>
        </p:nvSpPr>
        <p:spPr>
          <a:xfrm>
            <a:off x="0" y="0"/>
            <a:ext cx="467258" cy="61904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4360" y="256032"/>
            <a:ext cx="11338560" cy="457200"/>
          </a:xfrm>
          <a:prstGeom prst="rect">
            <a:avLst/>
          </a:prstGeom>
          <a:noFill/>
        </p:spPr>
        <p:txBody>
          <a:bodyPr wrap="none">
            <a:spAutoFit/>
          </a:bodyPr>
          <a:lstStyle/>
          <a:p>
            <a:r>
              <a:rPr sz="2600" b="1">
                <a:solidFill>
                  <a:srgbClr val="FFFFFF"/>
                </a:solidFill>
                <a:latin typeface="Times New Roman"/>
              </a:rPr>
              <a:t>Methodology (cont.)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67258" cy="61904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90488"/>
            <a:ext cx="12191695" cy="66751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 y="6236208"/>
            <a:ext cx="1371600" cy="365760"/>
          </a:xfrm>
          <a:prstGeom prst="rect">
            <a:avLst/>
          </a:prstGeom>
          <a:noFill/>
        </p:spPr>
        <p:txBody>
          <a:bodyPr wrap="square">
            <a:spAutoFit/>
          </a:bodyPr>
          <a:lstStyle/>
          <a:p>
            <a:r>
              <a:rPr sz="2200" b="1" i="0">
                <a:solidFill>
                  <a:srgbClr val="FFFFFF"/>
                </a:solidFill>
                <a:latin typeface="Times New Roman"/>
              </a:rPr>
              <a:t>RIT</a:t>
            </a:r>
          </a:p>
        </p:txBody>
      </p:sp>
      <p:sp>
        <p:nvSpPr>
          <p:cNvPr id="5" name="TextBox 4"/>
          <p:cNvSpPr txBox="1"/>
          <p:nvPr/>
        </p:nvSpPr>
        <p:spPr>
          <a:xfrm>
            <a:off x="7772400" y="6281928"/>
            <a:ext cx="4297680" cy="320040"/>
          </a:xfrm>
          <a:prstGeom prst="rect">
            <a:avLst/>
          </a:prstGeom>
          <a:noFill/>
        </p:spPr>
        <p:txBody>
          <a:bodyPr wrap="square">
            <a:spAutoFit/>
          </a:bodyPr>
          <a:lstStyle/>
          <a:p>
            <a:pPr algn="r">
              <a:spcBef>
                <a:spcPts val="0"/>
              </a:spcBef>
              <a:spcAft>
                <a:spcPts val="0"/>
              </a:spcAft>
            </a:pPr>
            <a:r>
              <a:rPr sz="1100" b="0" i="0">
                <a:solidFill>
                  <a:srgbClr val="FFFFFF"/>
                </a:solidFill>
                <a:latin typeface="Times New Roman"/>
              </a:rPr>
              <a:t>Rochester Institute of Technology  |  7</a:t>
            </a:r>
          </a:p>
        </p:txBody>
      </p:sp>
      <p:sp>
        <p:nvSpPr>
          <p:cNvPr id="6" name="Rectangle 5"/>
          <p:cNvSpPr/>
          <p:nvPr/>
        </p:nvSpPr>
        <p:spPr>
          <a:xfrm>
            <a:off x="502920" y="228600"/>
            <a:ext cx="11503152" cy="5029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56032"/>
            <a:ext cx="11338560" cy="502920"/>
          </a:xfrm>
          <a:prstGeom prst="rect">
            <a:avLst/>
          </a:prstGeom>
          <a:noFill/>
        </p:spPr>
        <p:txBody>
          <a:bodyPr wrap="square">
            <a:spAutoFit/>
          </a:bodyPr>
          <a:lstStyle/>
          <a:p>
            <a:r>
              <a:rPr sz="2600" b="1" i="0">
                <a:solidFill>
                  <a:srgbClr val="FFFFFF"/>
                </a:solidFill>
                <a:latin typeface="Times New Roman"/>
              </a:rPr>
              <a:t>Experiment</a:t>
            </a:r>
          </a:p>
        </p:txBody>
      </p:sp>
      <p:sp>
        <p:nvSpPr>
          <p:cNvPr id="8" name="Rectangle 7"/>
          <p:cNvSpPr/>
          <p:nvPr/>
        </p:nvSpPr>
        <p:spPr>
          <a:xfrm>
            <a:off x="594360" y="896112"/>
            <a:ext cx="3383280" cy="347472"/>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932688"/>
            <a:ext cx="3200400" cy="292608"/>
          </a:xfrm>
          <a:prstGeom prst="rect">
            <a:avLst/>
          </a:prstGeom>
          <a:noFill/>
        </p:spPr>
        <p:txBody>
          <a:bodyPr wrap="square">
            <a:spAutoFit/>
          </a:bodyPr>
          <a:lstStyle/>
          <a:p>
            <a:pPr algn="ctr">
              <a:spcBef>
                <a:spcPts val="0"/>
              </a:spcBef>
              <a:spcAft>
                <a:spcPts val="0"/>
              </a:spcAft>
            </a:pPr>
            <a:r>
              <a:rPr sz="1300" b="1" i="0">
                <a:solidFill>
                  <a:srgbClr val="FFFFFF"/>
                </a:solidFill>
                <a:latin typeface="Times New Roman"/>
              </a:rPr>
              <a:t>Data</a:t>
            </a:r>
          </a:p>
        </p:txBody>
      </p:sp>
      <p:sp>
        <p:nvSpPr>
          <p:cNvPr id="10" name="TextBox 9"/>
          <p:cNvSpPr txBox="1"/>
          <p:nvPr/>
        </p:nvSpPr>
        <p:spPr>
          <a:xfrm>
            <a:off x="594360" y="1298448"/>
            <a:ext cx="3383280" cy="2218556"/>
          </a:xfrm>
          <a:prstGeom prst="rect">
            <a:avLst/>
          </a:prstGeom>
          <a:noFill/>
        </p:spPr>
        <p:txBody>
          <a:bodyPr wrap="square">
            <a:spAutoFit/>
          </a:bodyPr>
          <a:lstStyle/>
          <a:p>
            <a:pPr algn="l">
              <a:spcBef>
                <a:spcPts val="700"/>
              </a:spcBef>
              <a:spcAft>
                <a:spcPts val="0"/>
              </a:spcAft>
            </a:pPr>
            <a:r>
              <a:rPr sz="1200" b="1" i="0" dirty="0">
                <a:solidFill>
                  <a:srgbClr val="F76904"/>
                </a:solidFill>
                <a:latin typeface="Times New Roman"/>
              </a:rPr>
              <a:t>▸ NSL-KDD: </a:t>
            </a:r>
          </a:p>
          <a:p>
            <a:pPr algn="l">
              <a:spcBef>
                <a:spcPts val="100"/>
              </a:spcBef>
              <a:spcAft>
                <a:spcPts val="0"/>
              </a:spcAft>
            </a:pPr>
            <a:r>
              <a:rPr sz="1100" b="0" i="0" dirty="0">
                <a:solidFill>
                  <a:srgbClr val="444444"/>
                </a:solidFill>
                <a:latin typeface="Times New Roman"/>
              </a:rPr>
              <a:t>   </a:t>
            </a:r>
            <a:r>
              <a:rPr sz="1100" b="0" i="0" dirty="0" err="1">
                <a:solidFill>
                  <a:srgbClr val="444444"/>
                </a:solidFill>
                <a:latin typeface="Times New Roman"/>
              </a:rPr>
              <a:t>Tavallaee</a:t>
            </a:r>
            <a:r>
              <a:rPr sz="1100" b="0" i="0" dirty="0">
                <a:solidFill>
                  <a:srgbClr val="444444"/>
                </a:solidFill>
                <a:latin typeface="Times New Roman"/>
              </a:rPr>
              <a:t> et al. (2009) corrected KDD Cup 1999 data; 125,973 train / 22,544 test; 5-class network traffic classification.</a:t>
            </a:r>
          </a:p>
          <a:p>
            <a:pPr algn="l">
              <a:spcBef>
                <a:spcPts val="700"/>
              </a:spcBef>
              <a:spcAft>
                <a:spcPts val="0"/>
              </a:spcAft>
            </a:pPr>
            <a:r>
              <a:rPr sz="1200" b="1" i="0" dirty="0">
                <a:solidFill>
                  <a:srgbClr val="F76904"/>
                </a:solidFill>
                <a:latin typeface="Times New Roman"/>
              </a:rPr>
              <a:t>▸ UNSW-NB15: </a:t>
            </a:r>
          </a:p>
          <a:p>
            <a:pPr algn="l">
              <a:spcBef>
                <a:spcPts val="100"/>
              </a:spcBef>
              <a:spcAft>
                <a:spcPts val="0"/>
              </a:spcAft>
            </a:pPr>
            <a:r>
              <a:rPr sz="1100" b="0" i="0" dirty="0">
                <a:solidFill>
                  <a:srgbClr val="444444"/>
                </a:solidFill>
                <a:latin typeface="Times New Roman"/>
              </a:rPr>
              <a:t>   Moustafa &amp; Slay (2015) contemporary attack dataset; 9 attack categories; training/test split from authors.</a:t>
            </a:r>
          </a:p>
          <a:p>
            <a:pPr algn="l">
              <a:spcBef>
                <a:spcPts val="700"/>
              </a:spcBef>
              <a:spcAft>
                <a:spcPts val="0"/>
              </a:spcAft>
            </a:pPr>
            <a:r>
              <a:rPr sz="1200" b="1" i="0" dirty="0">
                <a:solidFill>
                  <a:srgbClr val="F76904"/>
                </a:solidFill>
                <a:latin typeface="Times New Roman"/>
              </a:rPr>
              <a:t>▸ Overlap Issue: </a:t>
            </a:r>
          </a:p>
          <a:p>
            <a:pPr algn="l">
              <a:spcBef>
                <a:spcPts val="100"/>
              </a:spcBef>
              <a:spcAft>
                <a:spcPts val="0"/>
              </a:spcAft>
            </a:pPr>
            <a:r>
              <a:rPr sz="1100" b="0" i="0" dirty="0">
                <a:solidFill>
                  <a:srgbClr val="444444"/>
                </a:solidFill>
                <a:latin typeface="Times New Roman"/>
              </a:rPr>
              <a:t>   Post one-hot encoding, NSL-KDD (121 features) and UNSW-NB15 (49 features) share effectively zero feature names critical for E7.</a:t>
            </a:r>
          </a:p>
        </p:txBody>
      </p:sp>
      <p:sp>
        <p:nvSpPr>
          <p:cNvPr id="11" name="Rectangle 10"/>
          <p:cNvSpPr/>
          <p:nvPr/>
        </p:nvSpPr>
        <p:spPr>
          <a:xfrm>
            <a:off x="4407408" y="896112"/>
            <a:ext cx="3383280" cy="347472"/>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98848" y="932688"/>
            <a:ext cx="3200400" cy="292608"/>
          </a:xfrm>
          <a:prstGeom prst="rect">
            <a:avLst/>
          </a:prstGeom>
          <a:noFill/>
        </p:spPr>
        <p:txBody>
          <a:bodyPr wrap="square">
            <a:spAutoFit/>
          </a:bodyPr>
          <a:lstStyle/>
          <a:p>
            <a:pPr algn="ctr">
              <a:spcBef>
                <a:spcPts val="0"/>
              </a:spcBef>
              <a:spcAft>
                <a:spcPts val="0"/>
              </a:spcAft>
            </a:pPr>
            <a:r>
              <a:rPr sz="1300" b="1" i="0">
                <a:solidFill>
                  <a:srgbClr val="FFFFFF"/>
                </a:solidFill>
                <a:latin typeface="Times New Roman"/>
              </a:rPr>
              <a:t>Treatments</a:t>
            </a:r>
          </a:p>
        </p:txBody>
      </p:sp>
      <p:sp>
        <p:nvSpPr>
          <p:cNvPr id="13" name="TextBox 12"/>
          <p:cNvSpPr txBox="1"/>
          <p:nvPr/>
        </p:nvSpPr>
        <p:spPr>
          <a:xfrm>
            <a:off x="4407408" y="1298448"/>
            <a:ext cx="3383280" cy="3657600"/>
          </a:xfrm>
          <a:prstGeom prst="rect">
            <a:avLst/>
          </a:prstGeom>
          <a:noFill/>
        </p:spPr>
        <p:txBody>
          <a:bodyPr wrap="square">
            <a:spAutoFit/>
          </a:bodyPr>
          <a:lstStyle/>
          <a:p>
            <a:pPr algn="l">
              <a:spcBef>
                <a:spcPts val="700"/>
              </a:spcBef>
              <a:spcAft>
                <a:spcPts val="0"/>
              </a:spcAft>
            </a:pPr>
            <a:r>
              <a:rPr sz="1200" b="1" i="0">
                <a:solidFill>
                  <a:srgbClr val="F76904"/>
                </a:solidFill>
                <a:latin typeface="Times New Roman"/>
              </a:rPr>
              <a:t>▸ ChiSquare: </a:t>
            </a:r>
          </a:p>
          <a:p>
            <a:pPr algn="l">
              <a:spcBef>
                <a:spcPts val="100"/>
              </a:spcBef>
              <a:spcAft>
                <a:spcPts val="0"/>
              </a:spcAft>
            </a:pPr>
            <a:r>
              <a:rPr sz="1100" b="0" i="0">
                <a:solidFill>
                  <a:srgbClr val="444444"/>
                </a:solidFill>
                <a:latin typeface="Times New Roman"/>
              </a:rPr>
              <a:t>   Top-20 features by chi-squared statistic (filter).</a:t>
            </a:r>
          </a:p>
          <a:p>
            <a:pPr algn="l">
              <a:spcBef>
                <a:spcPts val="700"/>
              </a:spcBef>
              <a:spcAft>
                <a:spcPts val="0"/>
              </a:spcAft>
            </a:pPr>
            <a:r>
              <a:rPr sz="1200" b="1" i="0">
                <a:solidFill>
                  <a:srgbClr val="F76904"/>
                </a:solidFill>
                <a:latin typeface="Times New Roman"/>
              </a:rPr>
              <a:t>▸ MutualInfo: </a:t>
            </a:r>
          </a:p>
          <a:p>
            <a:pPr algn="l">
              <a:spcBef>
                <a:spcPts val="100"/>
              </a:spcBef>
              <a:spcAft>
                <a:spcPts val="0"/>
              </a:spcAft>
            </a:pPr>
            <a:r>
              <a:rPr sz="1100" b="0" i="0">
                <a:solidFill>
                  <a:srgbClr val="444444"/>
                </a:solidFill>
                <a:latin typeface="Times New Roman"/>
              </a:rPr>
              <a:t>   Top-20 by mutual information score (filter).</a:t>
            </a:r>
          </a:p>
          <a:p>
            <a:pPr algn="l">
              <a:spcBef>
                <a:spcPts val="700"/>
              </a:spcBef>
              <a:spcAft>
                <a:spcPts val="0"/>
              </a:spcAft>
            </a:pPr>
            <a:r>
              <a:rPr sz="1200" b="1" i="0">
                <a:solidFill>
                  <a:srgbClr val="F76904"/>
                </a:solidFill>
                <a:latin typeface="Times New Roman"/>
              </a:rPr>
              <a:t>▸ L1 Logistic: </a:t>
            </a:r>
          </a:p>
          <a:p>
            <a:pPr algn="l">
              <a:spcBef>
                <a:spcPts val="100"/>
              </a:spcBef>
              <a:spcAft>
                <a:spcPts val="0"/>
              </a:spcAft>
            </a:pPr>
            <a:r>
              <a:rPr sz="1100" b="0" i="0">
                <a:solidFill>
                  <a:srgbClr val="444444"/>
                </a:solidFill>
                <a:latin typeface="Times New Roman"/>
              </a:rPr>
              <a:t>   L1-regularized logistic regression features (embedded).</a:t>
            </a:r>
          </a:p>
          <a:p>
            <a:pPr algn="l">
              <a:spcBef>
                <a:spcPts val="700"/>
              </a:spcBef>
              <a:spcAft>
                <a:spcPts val="0"/>
              </a:spcAft>
            </a:pPr>
            <a:r>
              <a:rPr sz="1200" b="1" i="0">
                <a:solidFill>
                  <a:srgbClr val="F76904"/>
                </a:solidFill>
                <a:latin typeface="Times New Roman"/>
              </a:rPr>
              <a:t>▸ RF Importance: </a:t>
            </a:r>
          </a:p>
          <a:p>
            <a:pPr algn="l">
              <a:spcBef>
                <a:spcPts val="100"/>
              </a:spcBef>
              <a:spcAft>
                <a:spcPts val="0"/>
              </a:spcAft>
            </a:pPr>
            <a:r>
              <a:rPr sz="1100" b="0" i="0">
                <a:solidFill>
                  <a:srgbClr val="444444"/>
                </a:solidFill>
                <a:latin typeface="Times New Roman"/>
              </a:rPr>
              <a:t>   Top-28 by random forest Gini importance (embedded).</a:t>
            </a:r>
          </a:p>
          <a:p>
            <a:pPr algn="l">
              <a:spcBef>
                <a:spcPts val="700"/>
              </a:spcBef>
              <a:spcAft>
                <a:spcPts val="0"/>
              </a:spcAft>
            </a:pPr>
            <a:r>
              <a:rPr sz="1200" b="1" i="0">
                <a:solidFill>
                  <a:srgbClr val="F76904"/>
                </a:solidFill>
                <a:latin typeface="Times New Roman"/>
              </a:rPr>
              <a:t>▸ PCA: </a:t>
            </a:r>
          </a:p>
          <a:p>
            <a:pPr algn="l">
              <a:spcBef>
                <a:spcPts val="100"/>
              </a:spcBef>
              <a:spcAft>
                <a:spcPts val="0"/>
              </a:spcAft>
            </a:pPr>
            <a:r>
              <a:rPr sz="1100" b="0" i="0">
                <a:solidFill>
                  <a:srgbClr val="444444"/>
                </a:solidFill>
                <a:latin typeface="Times New Roman"/>
              </a:rPr>
              <a:t>   Top-24 principal components (transform, not selection).</a:t>
            </a:r>
          </a:p>
          <a:p>
            <a:pPr algn="l">
              <a:spcBef>
                <a:spcPts val="700"/>
              </a:spcBef>
              <a:spcAft>
                <a:spcPts val="0"/>
              </a:spcAft>
            </a:pPr>
            <a:r>
              <a:rPr sz="1200" b="1" i="0">
                <a:solidFill>
                  <a:srgbClr val="F76904"/>
                </a:solidFill>
                <a:latin typeface="Times New Roman"/>
              </a:rPr>
              <a:t>▸ GA (proposed): </a:t>
            </a:r>
          </a:p>
          <a:p>
            <a:pPr algn="l">
              <a:spcBef>
                <a:spcPts val="100"/>
              </a:spcBef>
              <a:spcAft>
                <a:spcPts val="0"/>
              </a:spcAft>
            </a:pPr>
            <a:r>
              <a:rPr sz="1100" b="0" i="0">
                <a:solidFill>
                  <a:srgbClr val="444444"/>
                </a:solidFill>
                <a:latin typeface="Times New Roman"/>
              </a:rPr>
              <a:t>   Binary-encoded, tournament-selection GA; α=0.9; 40 generations; 5 seeds.</a:t>
            </a:r>
          </a:p>
        </p:txBody>
      </p:sp>
      <p:sp>
        <p:nvSpPr>
          <p:cNvPr id="14" name="Rectangle 13"/>
          <p:cNvSpPr/>
          <p:nvPr/>
        </p:nvSpPr>
        <p:spPr>
          <a:xfrm>
            <a:off x="8220456" y="896112"/>
            <a:ext cx="3383280" cy="347472"/>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11896" y="932688"/>
            <a:ext cx="3200400" cy="292608"/>
          </a:xfrm>
          <a:prstGeom prst="rect">
            <a:avLst/>
          </a:prstGeom>
          <a:noFill/>
        </p:spPr>
        <p:txBody>
          <a:bodyPr wrap="square">
            <a:spAutoFit/>
          </a:bodyPr>
          <a:lstStyle/>
          <a:p>
            <a:pPr algn="ctr">
              <a:spcBef>
                <a:spcPts val="0"/>
              </a:spcBef>
              <a:spcAft>
                <a:spcPts val="0"/>
              </a:spcAft>
            </a:pPr>
            <a:r>
              <a:rPr sz="1300" b="1" i="0">
                <a:solidFill>
                  <a:srgbClr val="FFFFFF"/>
                </a:solidFill>
                <a:latin typeface="Times New Roman"/>
              </a:rPr>
              <a:t>Evaluation Metrics</a:t>
            </a:r>
          </a:p>
        </p:txBody>
      </p:sp>
      <p:sp>
        <p:nvSpPr>
          <p:cNvPr id="16" name="TextBox 15"/>
          <p:cNvSpPr txBox="1"/>
          <p:nvPr/>
        </p:nvSpPr>
        <p:spPr>
          <a:xfrm>
            <a:off x="8220456" y="1298448"/>
            <a:ext cx="3383280" cy="3131627"/>
          </a:xfrm>
          <a:prstGeom prst="rect">
            <a:avLst/>
          </a:prstGeom>
          <a:noFill/>
        </p:spPr>
        <p:txBody>
          <a:bodyPr wrap="square">
            <a:spAutoFit/>
          </a:bodyPr>
          <a:lstStyle/>
          <a:p>
            <a:pPr algn="l">
              <a:spcBef>
                <a:spcPts val="700"/>
              </a:spcBef>
              <a:spcAft>
                <a:spcPts val="0"/>
              </a:spcAft>
            </a:pPr>
            <a:r>
              <a:rPr sz="1200" b="1" i="0" dirty="0">
                <a:solidFill>
                  <a:srgbClr val="F76904"/>
                </a:solidFill>
                <a:latin typeface="Times New Roman"/>
              </a:rPr>
              <a:t>▸ Weighted F1: </a:t>
            </a:r>
          </a:p>
          <a:p>
            <a:pPr algn="l">
              <a:spcBef>
                <a:spcPts val="100"/>
              </a:spcBef>
              <a:spcAft>
                <a:spcPts val="0"/>
              </a:spcAft>
            </a:pPr>
            <a:r>
              <a:rPr sz="1100" b="0" i="0" dirty="0">
                <a:solidFill>
                  <a:srgbClr val="444444"/>
                </a:solidFill>
                <a:latin typeface="Times New Roman"/>
              </a:rPr>
              <a:t>   Primary accuracy metric; handles class imbalance across 5 traffic classes.</a:t>
            </a:r>
          </a:p>
          <a:p>
            <a:pPr algn="l">
              <a:spcBef>
                <a:spcPts val="700"/>
              </a:spcBef>
              <a:spcAft>
                <a:spcPts val="0"/>
              </a:spcAft>
            </a:pPr>
            <a:r>
              <a:rPr sz="1200" b="1" i="0" dirty="0">
                <a:solidFill>
                  <a:srgbClr val="F76904"/>
                </a:solidFill>
                <a:latin typeface="Times New Roman"/>
              </a:rPr>
              <a:t>▸ Jaccard Index: </a:t>
            </a:r>
          </a:p>
          <a:p>
            <a:pPr algn="l">
              <a:spcBef>
                <a:spcPts val="100"/>
              </a:spcBef>
              <a:spcAft>
                <a:spcPts val="0"/>
              </a:spcAft>
            </a:pPr>
            <a:r>
              <a:rPr sz="1100" b="0" i="0" dirty="0">
                <a:solidFill>
                  <a:srgbClr val="444444"/>
                </a:solidFill>
                <a:latin typeface="Times New Roman"/>
              </a:rPr>
              <a:t>   Mean pairwise Jaccard across 5 seeds measures feature set stability / reproducibility.</a:t>
            </a:r>
          </a:p>
          <a:p>
            <a:pPr algn="l">
              <a:spcBef>
                <a:spcPts val="700"/>
              </a:spcBef>
              <a:spcAft>
                <a:spcPts val="0"/>
              </a:spcAft>
            </a:pPr>
            <a:r>
              <a:rPr sz="1200" b="1" i="0" dirty="0">
                <a:solidFill>
                  <a:srgbClr val="F76904"/>
                </a:solidFill>
                <a:latin typeface="Times New Roman"/>
              </a:rPr>
              <a:t>▸ Δ_M (transfer): </a:t>
            </a:r>
          </a:p>
          <a:p>
            <a:pPr algn="l">
              <a:spcBef>
                <a:spcPts val="100"/>
              </a:spcBef>
              <a:spcAft>
                <a:spcPts val="0"/>
              </a:spcAft>
            </a:pPr>
            <a:r>
              <a:rPr sz="1100" b="0" i="0" dirty="0">
                <a:solidFill>
                  <a:srgbClr val="444444"/>
                </a:solidFill>
                <a:latin typeface="Times New Roman"/>
              </a:rPr>
              <a:t>   within-F1 minus cross-F1; positive = degradation; measures cross-dataset penalty.</a:t>
            </a:r>
          </a:p>
          <a:p>
            <a:pPr algn="l">
              <a:spcBef>
                <a:spcPts val="700"/>
              </a:spcBef>
              <a:spcAft>
                <a:spcPts val="0"/>
              </a:spcAft>
            </a:pPr>
            <a:r>
              <a:rPr sz="1200" b="1" i="0" dirty="0">
                <a:solidFill>
                  <a:srgbClr val="F76904"/>
                </a:solidFill>
                <a:latin typeface="Times New Roman"/>
              </a:rPr>
              <a:t>▸ Statistics: </a:t>
            </a:r>
          </a:p>
          <a:p>
            <a:pPr algn="l">
              <a:spcBef>
                <a:spcPts val="100"/>
              </a:spcBef>
              <a:spcAft>
                <a:spcPts val="0"/>
              </a:spcAft>
            </a:pPr>
            <a:r>
              <a:rPr sz="1100" b="0" i="0" dirty="0">
                <a:solidFill>
                  <a:srgbClr val="444444"/>
                </a:solidFill>
                <a:latin typeface="Times New Roman"/>
              </a:rPr>
              <a:t>   Paired t-test + Wilcoxon signed-rank; Bonferroni correction; α=0.05 throughout.</a:t>
            </a:r>
          </a:p>
          <a:p>
            <a:pPr algn="l">
              <a:spcBef>
                <a:spcPts val="700"/>
              </a:spcBef>
              <a:spcAft>
                <a:spcPts val="0"/>
              </a:spcAft>
            </a:pPr>
            <a:r>
              <a:rPr sz="1200" b="1" i="0" dirty="0">
                <a:solidFill>
                  <a:srgbClr val="F76904"/>
                </a:solidFill>
                <a:latin typeface="Times New Roman"/>
              </a:rPr>
              <a:t>▸ Protocol: </a:t>
            </a:r>
          </a:p>
          <a:p>
            <a:pPr algn="l">
              <a:spcBef>
                <a:spcPts val="100"/>
              </a:spcBef>
              <a:spcAft>
                <a:spcPts val="0"/>
              </a:spcAft>
            </a:pPr>
            <a:r>
              <a:rPr sz="1100" b="0" i="0" dirty="0">
                <a:solidFill>
                  <a:srgbClr val="444444"/>
                </a:solidFill>
                <a:latin typeface="Times New Roman"/>
              </a:rPr>
              <a:t>   Stratified 5-fold CV; 5 independent seeds; no data leakage.</a:t>
            </a:r>
          </a:p>
        </p:txBody>
      </p:sp>
      <p:sp>
        <p:nvSpPr>
          <p:cNvPr id="17" name="Rectangle 16"/>
          <p:cNvSpPr/>
          <p:nvPr/>
        </p:nvSpPr>
        <p:spPr>
          <a:xfrm>
            <a:off x="594360" y="5074920"/>
            <a:ext cx="11338560" cy="4572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5120640"/>
            <a:ext cx="11155680" cy="276999"/>
          </a:xfrm>
          <a:prstGeom prst="rect">
            <a:avLst/>
          </a:prstGeom>
          <a:noFill/>
        </p:spPr>
        <p:txBody>
          <a:bodyPr wrap="square">
            <a:spAutoFit/>
          </a:bodyPr>
          <a:lstStyle/>
          <a:p>
            <a:r>
              <a:rPr sz="1200" b="1" i="0" dirty="0">
                <a:latin typeface="Times New Roman"/>
              </a:rPr>
              <a:t>IRR &amp; Ethics: </a:t>
            </a:r>
            <a:r>
              <a:rPr sz="1150" b="0" i="0" dirty="0">
                <a:solidFill>
                  <a:srgbClr val="444444"/>
                </a:solidFill>
                <a:latin typeface="Times New Roman"/>
              </a:rPr>
              <a:t>No human subjects — all data is publicly available. Statistical testing uses paired bootstrap + corrected Wilcoxon. Cohen's kappa ≥ 0.70 target for any annotation tasks.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67258" cy="61904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90488"/>
            <a:ext cx="12191695" cy="66751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 y="6236208"/>
            <a:ext cx="1371600" cy="365760"/>
          </a:xfrm>
          <a:prstGeom prst="rect">
            <a:avLst/>
          </a:prstGeom>
          <a:noFill/>
        </p:spPr>
        <p:txBody>
          <a:bodyPr wrap="square">
            <a:spAutoFit/>
          </a:bodyPr>
          <a:lstStyle/>
          <a:p>
            <a:r>
              <a:rPr sz="2200" b="1" i="0">
                <a:solidFill>
                  <a:srgbClr val="FFFFFF"/>
                </a:solidFill>
                <a:latin typeface="Times New Roman"/>
              </a:rPr>
              <a:t>RIT</a:t>
            </a:r>
          </a:p>
        </p:txBody>
      </p:sp>
      <p:sp>
        <p:nvSpPr>
          <p:cNvPr id="5" name="TextBox 4"/>
          <p:cNvSpPr txBox="1"/>
          <p:nvPr/>
        </p:nvSpPr>
        <p:spPr>
          <a:xfrm>
            <a:off x="7772400" y="6281928"/>
            <a:ext cx="4297680" cy="320040"/>
          </a:xfrm>
          <a:prstGeom prst="rect">
            <a:avLst/>
          </a:prstGeom>
          <a:noFill/>
        </p:spPr>
        <p:txBody>
          <a:bodyPr wrap="square">
            <a:spAutoFit/>
          </a:bodyPr>
          <a:lstStyle/>
          <a:p>
            <a:pPr algn="r">
              <a:spcBef>
                <a:spcPts val="0"/>
              </a:spcBef>
              <a:spcAft>
                <a:spcPts val="0"/>
              </a:spcAft>
            </a:pPr>
            <a:r>
              <a:rPr sz="1100" b="0" i="0">
                <a:solidFill>
                  <a:srgbClr val="FFFFFF"/>
                </a:solidFill>
                <a:latin typeface="Times New Roman"/>
              </a:rPr>
              <a:t>Rochester Institute of Technology  |  8</a:t>
            </a:r>
          </a:p>
        </p:txBody>
      </p:sp>
      <p:sp>
        <p:nvSpPr>
          <p:cNvPr id="6" name="Rectangle 5"/>
          <p:cNvSpPr/>
          <p:nvPr/>
        </p:nvSpPr>
        <p:spPr>
          <a:xfrm>
            <a:off x="502920" y="228600"/>
            <a:ext cx="11503152" cy="5029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896112"/>
            <a:ext cx="1051560" cy="11887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3456432"/>
            <a:ext cx="1051560" cy="11887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28600"/>
            <a:ext cx="11503152" cy="5029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56032"/>
            <a:ext cx="11338560" cy="457200"/>
          </a:xfrm>
          <a:prstGeom prst="rect">
            <a:avLst/>
          </a:prstGeom>
          <a:noFill/>
        </p:spPr>
        <p:txBody>
          <a:bodyPr wrap="square">
            <a:spAutoFit/>
          </a:bodyPr>
          <a:lstStyle/>
          <a:p>
            <a:r>
              <a:rPr sz="2600" b="1" i="0">
                <a:solidFill>
                  <a:srgbClr val="FFFFFF"/>
                </a:solidFill>
                <a:latin typeface="Times New Roman"/>
              </a:rPr>
              <a:t>Results</a:t>
            </a:r>
          </a:p>
        </p:txBody>
      </p:sp>
      <p:sp>
        <p:nvSpPr>
          <p:cNvPr id="17" name="Rectangle 16"/>
          <p:cNvSpPr/>
          <p:nvPr/>
        </p:nvSpPr>
        <p:spPr>
          <a:xfrm>
            <a:off x="594360" y="896112"/>
            <a:ext cx="1078992" cy="12070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1078992"/>
            <a:ext cx="1078992" cy="594360"/>
          </a:xfrm>
          <a:prstGeom prst="rect">
            <a:avLst/>
          </a:prstGeom>
          <a:noFill/>
        </p:spPr>
        <p:txBody>
          <a:bodyPr wrap="square">
            <a:spAutoFit/>
          </a:bodyPr>
          <a:lstStyle/>
          <a:p>
            <a:pPr algn="ctr">
              <a:spcBef>
                <a:spcPts val="0"/>
              </a:spcBef>
              <a:spcAft>
                <a:spcPts val="0"/>
              </a:spcAft>
            </a:pPr>
            <a:r>
              <a:rPr sz="2100" b="1" i="0">
                <a:solidFill>
                  <a:srgbClr val="FFFFFF"/>
                </a:solidFill>
                <a:latin typeface="Times New Roman"/>
              </a:rPr>
              <a:t>~92%</a:t>
            </a:r>
          </a:p>
          <a:p>
            <a:pPr algn="ctr">
              <a:spcBef>
                <a:spcPts val="0"/>
              </a:spcBef>
              <a:spcAft>
                <a:spcPts val="0"/>
              </a:spcAft>
            </a:pPr>
            <a:r>
              <a:rPr sz="850" b="1" i="0">
                <a:solidFill>
                  <a:srgbClr val="FFFFFF"/>
                </a:solidFill>
                <a:latin typeface="Times New Roman"/>
              </a:rPr>
              <a:t>Feature
Reduction</a:t>
            </a:r>
          </a:p>
        </p:txBody>
      </p:sp>
      <p:sp>
        <p:nvSpPr>
          <p:cNvPr id="19" name="TextBox 18"/>
          <p:cNvSpPr txBox="1"/>
          <p:nvPr/>
        </p:nvSpPr>
        <p:spPr>
          <a:xfrm>
            <a:off x="1719072" y="969264"/>
            <a:ext cx="4754880" cy="1060704"/>
          </a:xfrm>
          <a:prstGeom prst="rect">
            <a:avLst/>
          </a:prstGeom>
          <a:noFill/>
        </p:spPr>
        <p:txBody>
          <a:bodyPr wrap="square">
            <a:spAutoFit/>
          </a:bodyPr>
          <a:lstStyle/>
          <a:p>
            <a:pPr algn="l">
              <a:spcBef>
                <a:spcPts val="0"/>
              </a:spcBef>
              <a:spcAft>
                <a:spcPts val="0"/>
              </a:spcAft>
            </a:pPr>
            <a:r>
              <a:rPr sz="1150" b="0" i="0">
                <a:solidFill>
                  <a:srgbClr val="444444"/>
                </a:solidFill>
                <a:latin typeface="Times New Roman"/>
              </a:rPr>
              <a:t>GA retains ~8% of NSL-KDD features (10 of 121, 91.7% reduction) and ~18% of UNSW-NB15 features. Extreme compactness is the primary advantage of GA selection over traditional methods.</a:t>
            </a:r>
          </a:p>
        </p:txBody>
      </p:sp>
      <p:sp>
        <p:nvSpPr>
          <p:cNvPr id="20" name="Rectangle 19"/>
          <p:cNvSpPr/>
          <p:nvPr/>
        </p:nvSpPr>
        <p:spPr>
          <a:xfrm>
            <a:off x="594360" y="2148840"/>
            <a:ext cx="1078992" cy="1207008"/>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2331720"/>
            <a:ext cx="1078992" cy="594360"/>
          </a:xfrm>
          <a:prstGeom prst="rect">
            <a:avLst/>
          </a:prstGeom>
          <a:noFill/>
        </p:spPr>
        <p:txBody>
          <a:bodyPr wrap="square">
            <a:spAutoFit/>
          </a:bodyPr>
          <a:lstStyle/>
          <a:p>
            <a:pPr algn="ctr">
              <a:spcBef>
                <a:spcPts val="0"/>
              </a:spcBef>
              <a:spcAft>
                <a:spcPts val="0"/>
              </a:spcAft>
            </a:pPr>
            <a:r>
              <a:rPr sz="2100" b="1" i="0">
                <a:solidFill>
                  <a:srgbClr val="FFFFFF"/>
                </a:solidFill>
                <a:latin typeface="Times New Roman"/>
              </a:rPr>
              <a:t>0.137</a:t>
            </a:r>
          </a:p>
          <a:p>
            <a:pPr algn="ctr">
              <a:spcBef>
                <a:spcPts val="0"/>
              </a:spcBef>
              <a:spcAft>
                <a:spcPts val="0"/>
              </a:spcAft>
            </a:pPr>
            <a:r>
              <a:rPr sz="850" b="1" i="0">
                <a:solidFill>
                  <a:srgbClr val="FFFFFF"/>
                </a:solidFill>
                <a:latin typeface="Times New Roman"/>
              </a:rPr>
              <a:t>Jaccard
Stability</a:t>
            </a:r>
          </a:p>
        </p:txBody>
      </p:sp>
      <p:sp>
        <p:nvSpPr>
          <p:cNvPr id="22" name="TextBox 21"/>
          <p:cNvSpPr txBox="1"/>
          <p:nvPr/>
        </p:nvSpPr>
        <p:spPr>
          <a:xfrm>
            <a:off x="1719072" y="2221992"/>
            <a:ext cx="4754880" cy="623248"/>
          </a:xfrm>
          <a:prstGeom prst="rect">
            <a:avLst/>
          </a:prstGeom>
          <a:noFill/>
        </p:spPr>
        <p:txBody>
          <a:bodyPr wrap="square">
            <a:spAutoFit/>
          </a:bodyPr>
          <a:lstStyle/>
          <a:p>
            <a:pPr algn="l">
              <a:spcBef>
                <a:spcPts val="0"/>
              </a:spcBef>
              <a:spcAft>
                <a:spcPts val="0"/>
              </a:spcAft>
            </a:pPr>
            <a:r>
              <a:rPr sz="1150" b="0" i="0" dirty="0">
                <a:solidFill>
                  <a:srgbClr val="444444"/>
                </a:solidFill>
                <a:latin typeface="Times New Roman"/>
              </a:rPr>
              <a:t>Mean pairwise Jaccard across 5 seeds = 0.137 far below acceptable thresholds. Only </a:t>
            </a:r>
            <a:r>
              <a:rPr sz="1150" b="0" i="0" dirty="0" err="1">
                <a:solidFill>
                  <a:srgbClr val="444444"/>
                </a:solidFill>
                <a:latin typeface="Times New Roman"/>
              </a:rPr>
              <a:t>src_bytes</a:t>
            </a:r>
            <a:r>
              <a:rPr sz="1150" b="0" i="0" dirty="0">
                <a:solidFill>
                  <a:srgbClr val="444444"/>
                </a:solidFill>
                <a:latin typeface="Times New Roman"/>
              </a:rPr>
              <a:t> &amp; </a:t>
            </a:r>
            <a:r>
              <a:rPr sz="1150" b="0" i="0" dirty="0" err="1">
                <a:solidFill>
                  <a:srgbClr val="444444"/>
                </a:solidFill>
                <a:latin typeface="Times New Roman"/>
              </a:rPr>
              <a:t>dst_bytes</a:t>
            </a:r>
            <a:r>
              <a:rPr sz="1150" b="0" i="0" dirty="0">
                <a:solidFill>
                  <a:srgbClr val="444444"/>
                </a:solidFill>
                <a:latin typeface="Times New Roman"/>
              </a:rPr>
              <a:t> selected in all runs (100%). Most features appear in ≤40% of seeds.</a:t>
            </a:r>
          </a:p>
        </p:txBody>
      </p:sp>
      <p:sp>
        <p:nvSpPr>
          <p:cNvPr id="23" name="Rectangle 22"/>
          <p:cNvSpPr/>
          <p:nvPr/>
        </p:nvSpPr>
        <p:spPr>
          <a:xfrm>
            <a:off x="594360" y="3401568"/>
            <a:ext cx="1078992" cy="1207008"/>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3584448"/>
            <a:ext cx="1078992" cy="594360"/>
          </a:xfrm>
          <a:prstGeom prst="rect">
            <a:avLst/>
          </a:prstGeom>
          <a:noFill/>
        </p:spPr>
        <p:txBody>
          <a:bodyPr wrap="square">
            <a:spAutoFit/>
          </a:bodyPr>
          <a:lstStyle/>
          <a:p>
            <a:pPr algn="ctr">
              <a:spcBef>
                <a:spcPts val="0"/>
              </a:spcBef>
              <a:spcAft>
                <a:spcPts val="0"/>
              </a:spcAft>
            </a:pPr>
            <a:r>
              <a:rPr sz="2100" b="1" i="0">
                <a:solidFill>
                  <a:srgbClr val="FFFFFF"/>
                </a:solidFill>
                <a:latin typeface="Times New Roman"/>
              </a:rPr>
              <a:t>14–18pp</a:t>
            </a:r>
          </a:p>
          <a:p>
            <a:pPr algn="ctr">
              <a:spcBef>
                <a:spcPts val="0"/>
              </a:spcBef>
              <a:spcAft>
                <a:spcPts val="0"/>
              </a:spcAft>
            </a:pPr>
            <a:r>
              <a:rPr sz="850" b="1" i="0">
                <a:solidFill>
                  <a:srgbClr val="FFFFFF"/>
                </a:solidFill>
                <a:latin typeface="Times New Roman"/>
              </a:rPr>
              <a:t>Cross-Dataset
Drop</a:t>
            </a:r>
          </a:p>
        </p:txBody>
      </p:sp>
      <p:sp>
        <p:nvSpPr>
          <p:cNvPr id="25" name="TextBox 24"/>
          <p:cNvSpPr txBox="1"/>
          <p:nvPr/>
        </p:nvSpPr>
        <p:spPr>
          <a:xfrm>
            <a:off x="1719072" y="3474720"/>
            <a:ext cx="4754880" cy="1060704"/>
          </a:xfrm>
          <a:prstGeom prst="rect">
            <a:avLst/>
          </a:prstGeom>
          <a:noFill/>
        </p:spPr>
        <p:txBody>
          <a:bodyPr wrap="square">
            <a:spAutoFit/>
          </a:bodyPr>
          <a:lstStyle/>
          <a:p>
            <a:pPr algn="l">
              <a:spcBef>
                <a:spcPts val="0"/>
              </a:spcBef>
              <a:spcAft>
                <a:spcPts val="0"/>
              </a:spcAft>
            </a:pPr>
            <a:r>
              <a:rPr sz="1150" b="0" i="0">
                <a:solidFill>
                  <a:srgbClr val="444444"/>
                </a:solidFill>
                <a:latin typeface="Times New Roman"/>
              </a:rPr>
              <a:t>All baseline selectors degrade 14.5–17.5 F1 percentage points cross-dataset. GA E7 result is invalid: 0 features transferred; fallback used all UNSW features.</a:t>
            </a:r>
          </a:p>
        </p:txBody>
      </p:sp>
      <p:sp>
        <p:nvSpPr>
          <p:cNvPr id="26" name="Rectangle 25"/>
          <p:cNvSpPr/>
          <p:nvPr/>
        </p:nvSpPr>
        <p:spPr>
          <a:xfrm>
            <a:off x="594360" y="4654296"/>
            <a:ext cx="1078992" cy="1207008"/>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837176"/>
            <a:ext cx="1078992" cy="594360"/>
          </a:xfrm>
          <a:prstGeom prst="rect">
            <a:avLst/>
          </a:prstGeom>
          <a:noFill/>
        </p:spPr>
        <p:txBody>
          <a:bodyPr wrap="square">
            <a:spAutoFit/>
          </a:bodyPr>
          <a:lstStyle/>
          <a:p>
            <a:pPr algn="ctr">
              <a:spcBef>
                <a:spcPts val="0"/>
              </a:spcBef>
              <a:spcAft>
                <a:spcPts val="0"/>
              </a:spcAft>
            </a:pPr>
            <a:r>
              <a:rPr sz="2100" b="1" i="0">
                <a:solidFill>
                  <a:srgbClr val="FFFFFF"/>
                </a:solidFill>
                <a:latin typeface="Times New Roman"/>
              </a:rPr>
              <a:t>p&lt;0.01</a:t>
            </a:r>
          </a:p>
          <a:p>
            <a:pPr algn="ctr">
              <a:spcBef>
                <a:spcPts val="0"/>
              </a:spcBef>
              <a:spcAft>
                <a:spcPts val="0"/>
              </a:spcAft>
            </a:pPr>
            <a:r>
              <a:rPr sz="850" b="1" i="0">
                <a:solidFill>
                  <a:srgbClr val="FFFFFF"/>
                </a:solidFill>
                <a:latin typeface="Times New Roman"/>
              </a:rPr>
              <a:t>Statistical vs
Baselines</a:t>
            </a:r>
          </a:p>
        </p:txBody>
      </p:sp>
      <p:sp>
        <p:nvSpPr>
          <p:cNvPr id="28" name="TextBox 27"/>
          <p:cNvSpPr txBox="1"/>
          <p:nvPr/>
        </p:nvSpPr>
        <p:spPr>
          <a:xfrm>
            <a:off x="1719072" y="4727448"/>
            <a:ext cx="4754880" cy="1060704"/>
          </a:xfrm>
          <a:prstGeom prst="rect">
            <a:avLst/>
          </a:prstGeom>
          <a:noFill/>
        </p:spPr>
        <p:txBody>
          <a:bodyPr wrap="square">
            <a:spAutoFit/>
          </a:bodyPr>
          <a:lstStyle/>
          <a:p>
            <a:pPr algn="l">
              <a:spcBef>
                <a:spcPts val="0"/>
              </a:spcBef>
              <a:spcAft>
                <a:spcPts val="0"/>
              </a:spcAft>
            </a:pPr>
            <a:r>
              <a:rPr sz="1150" b="0" i="0">
                <a:solidFill>
                  <a:srgbClr val="444444"/>
                </a:solidFill>
                <a:latin typeface="Times New Roman"/>
              </a:rPr>
              <a:t>GA &gt; ChiSquare (p=0.00026) and GA &gt; PCA (p=0.009). But GA &lt; NoSelection, MutualInfo, L1Logistic, RFImportance (all p&lt;0.01). Compactness ≠ in-domain accuracy advantage.</a:t>
            </a:r>
          </a:p>
        </p:txBody>
      </p:sp>
      <p:sp>
        <p:nvSpPr>
          <p:cNvPr id="29" name="TextBox 28"/>
          <p:cNvSpPr txBox="1"/>
          <p:nvPr/>
        </p:nvSpPr>
        <p:spPr>
          <a:xfrm>
            <a:off x="6263640" y="896112"/>
            <a:ext cx="5623560" cy="274320"/>
          </a:xfrm>
          <a:prstGeom prst="rect">
            <a:avLst/>
          </a:prstGeom>
          <a:noFill/>
        </p:spPr>
        <p:txBody>
          <a:bodyPr wrap="square">
            <a:spAutoFit/>
          </a:bodyPr>
          <a:lstStyle/>
          <a:p>
            <a:pPr algn="ctr">
              <a:spcBef>
                <a:spcPts val="0"/>
              </a:spcBef>
              <a:spcAft>
                <a:spcPts val="0"/>
              </a:spcAft>
            </a:pPr>
            <a:r>
              <a:rPr sz="1100" b="0" i="1">
                <a:solidFill>
                  <a:srgbClr val="717479"/>
                </a:solidFill>
                <a:latin typeface="Times New Roman"/>
              </a:rPr>
              <a:t>Figure 2: Within vs. Cross-Dataset F1 (E7)</a:t>
            </a:r>
          </a:p>
        </p:txBody>
      </p:sp>
      <p:pic>
        <p:nvPicPr>
          <p:cNvPr id="30" name="Picture 29" descr="image.jpg"/>
          <p:cNvPicPr>
            <a:picLocks noChangeAspect="1"/>
          </p:cNvPicPr>
          <p:nvPr/>
        </p:nvPicPr>
        <p:blipFill>
          <a:blip r:embed="rId3"/>
          <a:stretch>
            <a:fillRect/>
          </a:stretch>
        </p:blipFill>
        <p:spPr>
          <a:xfrm>
            <a:off x="6263640" y="1188720"/>
            <a:ext cx="5623560" cy="3017520"/>
          </a:xfrm>
          <a:prstGeom prst="rect">
            <a:avLst/>
          </a:prstGeom>
        </p:spPr>
      </p:pic>
      <p:sp>
        <p:nvSpPr>
          <p:cNvPr id="31" name="Rectangle 30"/>
          <p:cNvSpPr/>
          <p:nvPr/>
        </p:nvSpPr>
        <p:spPr>
          <a:xfrm>
            <a:off x="6263640" y="4279392"/>
            <a:ext cx="5623560" cy="8046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4343400"/>
            <a:ext cx="5440680" cy="615553"/>
          </a:xfrm>
          <a:prstGeom prst="rect">
            <a:avLst/>
          </a:prstGeom>
          <a:noFill/>
        </p:spPr>
        <p:txBody>
          <a:bodyPr wrap="square">
            <a:spAutoFit/>
          </a:bodyPr>
          <a:lstStyle/>
          <a:p>
            <a:r>
              <a:rPr sz="1200" b="1" i="0" dirty="0">
                <a:solidFill>
                  <a:srgbClr val="994400"/>
                </a:solidFill>
                <a:latin typeface="Times New Roman"/>
              </a:rPr>
              <a:t>⚠ E7 GA Caveat: </a:t>
            </a:r>
            <a:r>
              <a:rPr sz="1100" b="0" i="0" dirty="0">
                <a:solidFill>
                  <a:srgbClr val="444444"/>
                </a:solidFill>
                <a:latin typeface="Times New Roman"/>
              </a:rPr>
              <a:t>GA cross-dataset ΔM = −0.070 is NOT a valid transfer result. Zero of 10 GA-selected features exist in UNSW-NB15 classifier retrained on all UNSW features as fallback.</a:t>
            </a:r>
          </a:p>
        </p:txBody>
      </p:sp>
      <p:sp>
        <p:nvSpPr>
          <p:cNvPr id="33" name="Rectangle 32"/>
          <p:cNvSpPr/>
          <p:nvPr/>
        </p:nvSpPr>
        <p:spPr>
          <a:xfrm>
            <a:off x="6263640" y="5148072"/>
            <a:ext cx="5623560" cy="877824"/>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55080" y="5212080"/>
            <a:ext cx="5440680" cy="749808"/>
          </a:xfrm>
          <a:prstGeom prst="rect">
            <a:avLst/>
          </a:prstGeom>
          <a:noFill/>
        </p:spPr>
        <p:txBody>
          <a:bodyPr wrap="square">
            <a:spAutoFit/>
          </a:bodyPr>
          <a:lstStyle/>
          <a:p>
            <a:r>
              <a:rPr sz="1300" b="1" i="0">
                <a:solidFill>
                  <a:srgbClr val="FFFFFF"/>
                </a:solidFill>
                <a:latin typeface="Times New Roman"/>
              </a:rPr>
              <a:t>Core Finding: </a:t>
            </a:r>
            <a:r>
              <a:rPr sz="1150" b="0" i="0">
                <a:solidFill>
                  <a:srgbClr val="FFFFFF"/>
                </a:solidFill>
                <a:latin typeface="Times New Roman"/>
              </a:rPr>
              <a:t>GA achieves extreme compactness (92% reduction) but does NOT outperform most baselines in accuracy. All methods suffer severe cross-dataset degradation, confirming the central hypothesis. Stability is very low (Jaccard=0.137).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67258" cy="61904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90488"/>
            <a:ext cx="12191695" cy="66751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 y="6236208"/>
            <a:ext cx="1371600" cy="365760"/>
          </a:xfrm>
          <a:prstGeom prst="rect">
            <a:avLst/>
          </a:prstGeom>
          <a:noFill/>
        </p:spPr>
        <p:txBody>
          <a:bodyPr wrap="square">
            <a:spAutoFit/>
          </a:bodyPr>
          <a:lstStyle/>
          <a:p>
            <a:r>
              <a:rPr sz="2200" b="1" i="0">
                <a:solidFill>
                  <a:srgbClr val="FFFFFF"/>
                </a:solidFill>
                <a:latin typeface="Times New Roman"/>
              </a:rPr>
              <a:t>RIT</a:t>
            </a:r>
          </a:p>
        </p:txBody>
      </p:sp>
      <p:sp>
        <p:nvSpPr>
          <p:cNvPr id="5" name="TextBox 4"/>
          <p:cNvSpPr txBox="1"/>
          <p:nvPr/>
        </p:nvSpPr>
        <p:spPr>
          <a:xfrm>
            <a:off x="7772400" y="6281928"/>
            <a:ext cx="4297680" cy="320040"/>
          </a:xfrm>
          <a:prstGeom prst="rect">
            <a:avLst/>
          </a:prstGeom>
          <a:noFill/>
        </p:spPr>
        <p:txBody>
          <a:bodyPr wrap="square">
            <a:spAutoFit/>
          </a:bodyPr>
          <a:lstStyle/>
          <a:p>
            <a:pPr algn="r">
              <a:spcBef>
                <a:spcPts val="0"/>
              </a:spcBef>
              <a:spcAft>
                <a:spcPts val="0"/>
              </a:spcAft>
            </a:pPr>
            <a:r>
              <a:rPr sz="1100" b="0" i="0">
                <a:solidFill>
                  <a:srgbClr val="FFFFFF"/>
                </a:solidFill>
                <a:latin typeface="Times New Roman"/>
              </a:rPr>
              <a:t>Rochester Institute of Technology  |  9</a:t>
            </a:r>
          </a:p>
        </p:txBody>
      </p:sp>
      <p:sp>
        <p:nvSpPr>
          <p:cNvPr id="6" name="Rectangle 5"/>
          <p:cNvSpPr/>
          <p:nvPr/>
        </p:nvSpPr>
        <p:spPr>
          <a:xfrm>
            <a:off x="502920" y="228600"/>
            <a:ext cx="11503152" cy="502920"/>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56032"/>
            <a:ext cx="11338560" cy="502920"/>
          </a:xfrm>
          <a:prstGeom prst="rect">
            <a:avLst/>
          </a:prstGeom>
          <a:noFill/>
        </p:spPr>
        <p:txBody>
          <a:bodyPr wrap="square">
            <a:spAutoFit/>
          </a:bodyPr>
          <a:lstStyle/>
          <a:p>
            <a:r>
              <a:rPr sz="2600" b="1" i="0">
                <a:solidFill>
                  <a:srgbClr val="FFFFFF"/>
                </a:solidFill>
                <a:latin typeface="Times New Roman"/>
              </a:rPr>
              <a:t>Conclusion</a:t>
            </a:r>
          </a:p>
        </p:txBody>
      </p:sp>
      <p:sp>
        <p:nvSpPr>
          <p:cNvPr id="8" name="Rectangle 7"/>
          <p:cNvSpPr/>
          <p:nvPr/>
        </p:nvSpPr>
        <p:spPr>
          <a:xfrm>
            <a:off x="502920" y="896112"/>
            <a:ext cx="11503152" cy="841248"/>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950976"/>
            <a:ext cx="11338560" cy="731520"/>
          </a:xfrm>
          <a:prstGeom prst="rect">
            <a:avLst/>
          </a:prstGeom>
          <a:noFill/>
        </p:spPr>
        <p:txBody>
          <a:bodyPr wrap="square">
            <a:spAutoFit/>
          </a:bodyPr>
          <a:lstStyle/>
          <a:p>
            <a:r>
              <a:rPr sz="1400" b="1" i="0" dirty="0">
                <a:solidFill>
                  <a:srgbClr val="F76904"/>
                </a:solidFill>
                <a:latin typeface="Times New Roman"/>
              </a:rPr>
              <a:t>Core Takeaway: </a:t>
            </a:r>
            <a:r>
              <a:rPr sz="1300" b="0" i="0" dirty="0">
                <a:solidFill>
                  <a:srgbClr val="FFFFFF"/>
                </a:solidFill>
                <a:latin typeface="Times New Roman"/>
              </a:rPr>
              <a:t>Accuracy on a benchmark dataset is not a proxy for generalization. GA-selected features are locally optimal but globally fragile they capture the source dataset's statistical fingerprint rather than universally informative representations. Evaluation frameworks must include cross-dataset transfer as a first-class criterion.</a:t>
            </a:r>
          </a:p>
        </p:txBody>
      </p:sp>
      <p:sp>
        <p:nvSpPr>
          <p:cNvPr id="10" name="Rectangle 9"/>
          <p:cNvSpPr/>
          <p:nvPr/>
        </p:nvSpPr>
        <p:spPr>
          <a:xfrm>
            <a:off x="594360" y="1874519"/>
            <a:ext cx="3520440" cy="347472"/>
          </a:xfrm>
          <a:prstGeom prst="rect">
            <a:avLst/>
          </a:prstGeom>
          <a:solidFill>
            <a:srgbClr val="F769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929383"/>
            <a:ext cx="3337560" cy="274320"/>
          </a:xfrm>
          <a:prstGeom prst="rect">
            <a:avLst/>
          </a:prstGeom>
          <a:noFill/>
        </p:spPr>
        <p:txBody>
          <a:bodyPr wrap="square">
            <a:spAutoFit/>
          </a:bodyPr>
          <a:lstStyle/>
          <a:p>
            <a:r>
              <a:rPr sz="1300" b="1" i="0">
                <a:solidFill>
                  <a:srgbClr val="FFFFFF"/>
                </a:solidFill>
                <a:latin typeface="Times New Roman"/>
              </a:rPr>
              <a:t>Potential Impact</a:t>
            </a:r>
          </a:p>
        </p:txBody>
      </p:sp>
      <p:sp>
        <p:nvSpPr>
          <p:cNvPr id="12" name="Rectangle 11"/>
          <p:cNvSpPr/>
          <p:nvPr/>
        </p:nvSpPr>
        <p:spPr>
          <a:xfrm>
            <a:off x="594360" y="2221991"/>
            <a:ext cx="3520440" cy="3749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295143"/>
            <a:ext cx="3337560" cy="2944396"/>
          </a:xfrm>
          <a:prstGeom prst="rect">
            <a:avLst/>
          </a:prstGeom>
          <a:noFill/>
        </p:spPr>
        <p:txBody>
          <a:bodyPr wrap="square">
            <a:spAutoFit/>
          </a:bodyPr>
          <a:lstStyle/>
          <a:p>
            <a:pPr algn="l">
              <a:spcBef>
                <a:spcPts val="700"/>
              </a:spcBef>
              <a:spcAft>
                <a:spcPts val="200"/>
              </a:spcAft>
            </a:pPr>
            <a:r>
              <a:rPr sz="1200" b="1" i="0" dirty="0">
                <a:latin typeface="Times New Roman"/>
              </a:rPr>
              <a:t>Cybersecurity IDS: </a:t>
            </a:r>
          </a:p>
          <a:p>
            <a:pPr algn="l">
              <a:spcBef>
                <a:spcPts val="200"/>
              </a:spcBef>
              <a:spcAft>
                <a:spcPts val="400"/>
              </a:spcAft>
            </a:pPr>
            <a:r>
              <a:rPr sz="1100" b="0" i="0" dirty="0">
                <a:solidFill>
                  <a:srgbClr val="444444"/>
                </a:solidFill>
                <a:latin typeface="Times New Roman"/>
              </a:rPr>
              <a:t>Models trained on single network corpus cannot assume feature stability across environments. Multi-source feature selection protocols are needed for production IDS pipelines.</a:t>
            </a:r>
          </a:p>
          <a:p>
            <a:pPr algn="l">
              <a:spcBef>
                <a:spcPts val="700"/>
              </a:spcBef>
              <a:spcAft>
                <a:spcPts val="200"/>
              </a:spcAft>
            </a:pPr>
            <a:r>
              <a:rPr sz="1200" b="1" i="0" dirty="0">
                <a:latin typeface="Times New Roman"/>
              </a:rPr>
              <a:t>Clinical ML: </a:t>
            </a:r>
          </a:p>
          <a:p>
            <a:pPr algn="l">
              <a:spcBef>
                <a:spcPts val="200"/>
              </a:spcBef>
              <a:spcAft>
                <a:spcPts val="400"/>
              </a:spcAft>
            </a:pPr>
            <a:r>
              <a:rPr sz="1100" b="0" i="0" dirty="0">
                <a:solidFill>
                  <a:srgbClr val="444444"/>
                </a:solidFill>
                <a:latin typeface="Times New Roman"/>
              </a:rPr>
              <a:t>Analogous distribution shift occurs when models trained on one hospital cohort are deployed across institutions with different demographics and measurement protocols.</a:t>
            </a:r>
          </a:p>
          <a:p>
            <a:pPr algn="l">
              <a:spcBef>
                <a:spcPts val="700"/>
              </a:spcBef>
              <a:spcAft>
                <a:spcPts val="200"/>
              </a:spcAft>
            </a:pPr>
            <a:r>
              <a:rPr sz="1200" b="1" i="0" dirty="0">
                <a:latin typeface="Times New Roman"/>
              </a:rPr>
              <a:t>Evaluation Reform: </a:t>
            </a:r>
          </a:p>
          <a:p>
            <a:pPr algn="l">
              <a:spcBef>
                <a:spcPts val="200"/>
              </a:spcBef>
              <a:spcAft>
                <a:spcPts val="400"/>
              </a:spcAft>
            </a:pPr>
            <a:r>
              <a:rPr sz="1100" b="0" i="0" dirty="0">
                <a:solidFill>
                  <a:srgbClr val="444444"/>
                </a:solidFill>
                <a:latin typeface="Times New Roman"/>
              </a:rPr>
              <a:t>Benchmark protocols that only report in-domain accuracy are insufficient. Cross-dataset Δ_M should be a standard reported metric.</a:t>
            </a:r>
          </a:p>
        </p:txBody>
      </p:sp>
      <p:sp>
        <p:nvSpPr>
          <p:cNvPr id="14" name="Rectangle 13"/>
          <p:cNvSpPr/>
          <p:nvPr/>
        </p:nvSpPr>
        <p:spPr>
          <a:xfrm>
            <a:off x="4325112" y="1874519"/>
            <a:ext cx="3520440" cy="347472"/>
          </a:xfrm>
          <a:prstGeom prst="rect">
            <a:avLst/>
          </a:prstGeom>
          <a:solidFill>
            <a:srgbClr val="7174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16552" y="1929383"/>
            <a:ext cx="3337560" cy="274320"/>
          </a:xfrm>
          <a:prstGeom prst="rect">
            <a:avLst/>
          </a:prstGeom>
          <a:noFill/>
        </p:spPr>
        <p:txBody>
          <a:bodyPr wrap="square">
            <a:spAutoFit/>
          </a:bodyPr>
          <a:lstStyle/>
          <a:p>
            <a:r>
              <a:rPr sz="1300" b="1" i="0">
                <a:solidFill>
                  <a:srgbClr val="FFFFFF"/>
                </a:solidFill>
                <a:latin typeface="Times New Roman"/>
              </a:rPr>
              <a:t>Limitations</a:t>
            </a:r>
          </a:p>
        </p:txBody>
      </p:sp>
      <p:sp>
        <p:nvSpPr>
          <p:cNvPr id="16" name="Rectangle 15"/>
          <p:cNvSpPr/>
          <p:nvPr/>
        </p:nvSpPr>
        <p:spPr>
          <a:xfrm>
            <a:off x="4325112" y="2221991"/>
            <a:ext cx="3520440" cy="3749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16552" y="2295143"/>
            <a:ext cx="3337560" cy="2605842"/>
          </a:xfrm>
          <a:prstGeom prst="rect">
            <a:avLst/>
          </a:prstGeom>
          <a:noFill/>
        </p:spPr>
        <p:txBody>
          <a:bodyPr wrap="square">
            <a:spAutoFit/>
          </a:bodyPr>
          <a:lstStyle/>
          <a:p>
            <a:pPr algn="l">
              <a:spcBef>
                <a:spcPts val="700"/>
              </a:spcBef>
              <a:spcAft>
                <a:spcPts val="200"/>
              </a:spcAft>
            </a:pPr>
            <a:r>
              <a:rPr sz="1200" b="1" i="0" dirty="0">
                <a:latin typeface="Times New Roman"/>
              </a:rPr>
              <a:t>Dataset scope: </a:t>
            </a:r>
          </a:p>
          <a:p>
            <a:pPr algn="l">
              <a:spcBef>
                <a:spcPts val="200"/>
              </a:spcBef>
              <a:spcAft>
                <a:spcPts val="400"/>
              </a:spcAft>
            </a:pPr>
            <a:r>
              <a:rPr sz="1100" b="0" i="0" dirty="0">
                <a:solidFill>
                  <a:srgbClr val="444444"/>
                </a:solidFill>
                <a:latin typeface="Times New Roman"/>
              </a:rPr>
              <a:t>Results are drawn from two network intrusion datasets. Generalizability to clinical, financial, or text tabular domains requires dedicated replication.</a:t>
            </a:r>
          </a:p>
          <a:p>
            <a:pPr algn="l">
              <a:spcBef>
                <a:spcPts val="700"/>
              </a:spcBef>
              <a:spcAft>
                <a:spcPts val="200"/>
              </a:spcAft>
            </a:pPr>
            <a:r>
              <a:rPr sz="1200" b="1" i="0" dirty="0">
                <a:latin typeface="Times New Roman"/>
              </a:rPr>
              <a:t>Schema mismatch: </a:t>
            </a:r>
          </a:p>
          <a:p>
            <a:pPr algn="l">
              <a:spcBef>
                <a:spcPts val="200"/>
              </a:spcBef>
              <a:spcAft>
                <a:spcPts val="400"/>
              </a:spcAft>
            </a:pPr>
            <a:r>
              <a:rPr sz="1100" b="0" i="0" dirty="0">
                <a:solidFill>
                  <a:srgbClr val="444444"/>
                </a:solidFill>
                <a:latin typeface="Times New Roman"/>
              </a:rPr>
              <a:t>Feature name incompatibility between NSL-KDD (post-encoding) and UNSW-NB15 prevented valid name-based transfer for all selectors not just GA.</a:t>
            </a:r>
          </a:p>
          <a:p>
            <a:pPr algn="l">
              <a:spcBef>
                <a:spcPts val="700"/>
              </a:spcBef>
              <a:spcAft>
                <a:spcPts val="200"/>
              </a:spcAft>
            </a:pPr>
            <a:r>
              <a:rPr sz="1200" b="1" i="0" dirty="0">
                <a:latin typeface="Times New Roman"/>
              </a:rPr>
              <a:t>Single-objective fitness: </a:t>
            </a:r>
          </a:p>
          <a:p>
            <a:pPr algn="l">
              <a:spcBef>
                <a:spcPts val="200"/>
              </a:spcBef>
              <a:spcAft>
                <a:spcPts val="400"/>
              </a:spcAft>
            </a:pPr>
            <a:r>
              <a:rPr sz="1100" b="0" i="0" dirty="0">
                <a:solidFill>
                  <a:srgbClr val="444444"/>
                </a:solidFill>
                <a:latin typeface="Times New Roman"/>
              </a:rPr>
              <a:t>The binary scalar fitness may favor dataset-specific features. Multi-objective formulations may yield qualitatively different subsets.</a:t>
            </a:r>
          </a:p>
        </p:txBody>
      </p:sp>
      <p:sp>
        <p:nvSpPr>
          <p:cNvPr id="18" name="Rectangle 17"/>
          <p:cNvSpPr/>
          <p:nvPr/>
        </p:nvSpPr>
        <p:spPr>
          <a:xfrm>
            <a:off x="8055864" y="1874519"/>
            <a:ext cx="3520440" cy="347472"/>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47304" y="1929383"/>
            <a:ext cx="3337560" cy="274320"/>
          </a:xfrm>
          <a:prstGeom prst="rect">
            <a:avLst/>
          </a:prstGeom>
          <a:noFill/>
        </p:spPr>
        <p:txBody>
          <a:bodyPr wrap="square">
            <a:spAutoFit/>
          </a:bodyPr>
          <a:lstStyle/>
          <a:p>
            <a:r>
              <a:rPr sz="1300" b="1" i="0">
                <a:solidFill>
                  <a:srgbClr val="FFFFFF"/>
                </a:solidFill>
                <a:latin typeface="Times New Roman"/>
              </a:rPr>
              <a:t>Future Work</a:t>
            </a:r>
          </a:p>
        </p:txBody>
      </p:sp>
      <p:sp>
        <p:nvSpPr>
          <p:cNvPr id="20" name="Rectangle 19"/>
          <p:cNvSpPr/>
          <p:nvPr/>
        </p:nvSpPr>
        <p:spPr>
          <a:xfrm>
            <a:off x="8055864" y="2221991"/>
            <a:ext cx="3520440" cy="3749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47304" y="2295143"/>
            <a:ext cx="3337560" cy="2605842"/>
          </a:xfrm>
          <a:prstGeom prst="rect">
            <a:avLst/>
          </a:prstGeom>
          <a:noFill/>
        </p:spPr>
        <p:txBody>
          <a:bodyPr wrap="square">
            <a:spAutoFit/>
          </a:bodyPr>
          <a:lstStyle/>
          <a:p>
            <a:pPr algn="l">
              <a:spcBef>
                <a:spcPts val="700"/>
              </a:spcBef>
              <a:spcAft>
                <a:spcPts val="200"/>
              </a:spcAft>
            </a:pPr>
            <a:r>
              <a:rPr sz="1200" b="1" i="0" dirty="0">
                <a:latin typeface="Times New Roman"/>
              </a:rPr>
              <a:t>01 — Generalization-Aware Fitness: </a:t>
            </a:r>
          </a:p>
          <a:p>
            <a:pPr algn="l">
              <a:spcBef>
                <a:spcPts val="200"/>
              </a:spcBef>
              <a:spcAft>
                <a:spcPts val="400"/>
              </a:spcAft>
            </a:pPr>
            <a:r>
              <a:rPr sz="1100" b="0" i="0" dirty="0">
                <a:solidFill>
                  <a:srgbClr val="444444"/>
                </a:solidFill>
                <a:latin typeface="Times New Roman"/>
              </a:rPr>
              <a:t>Incorporate cross-dataset validation signal directly into the GA fitness function penalize subsets that perform inconsistently across distributions.</a:t>
            </a:r>
          </a:p>
          <a:p>
            <a:pPr algn="l">
              <a:spcBef>
                <a:spcPts val="700"/>
              </a:spcBef>
              <a:spcAft>
                <a:spcPts val="200"/>
              </a:spcAft>
            </a:pPr>
            <a:r>
              <a:rPr sz="1200" b="1" i="0" dirty="0">
                <a:latin typeface="Times New Roman"/>
              </a:rPr>
              <a:t>02 — Domain Adaptation: </a:t>
            </a:r>
          </a:p>
          <a:p>
            <a:pPr algn="l">
              <a:spcBef>
                <a:spcPts val="200"/>
              </a:spcBef>
              <a:spcAft>
                <a:spcPts val="400"/>
              </a:spcAft>
            </a:pPr>
            <a:r>
              <a:rPr sz="1100" b="0" i="0" dirty="0">
                <a:solidFill>
                  <a:srgbClr val="444444"/>
                </a:solidFill>
                <a:latin typeface="Times New Roman"/>
              </a:rPr>
              <a:t>Combine GA selection with MMD minimization or adversarial alignment to select features that are distributionally invariant.</a:t>
            </a:r>
          </a:p>
          <a:p>
            <a:pPr algn="l">
              <a:spcBef>
                <a:spcPts val="700"/>
              </a:spcBef>
              <a:spcAft>
                <a:spcPts val="200"/>
              </a:spcAft>
            </a:pPr>
            <a:r>
              <a:rPr sz="1200" b="1" i="0" dirty="0">
                <a:latin typeface="Times New Roman"/>
              </a:rPr>
              <a:t>03 — Multi-Objective GA: </a:t>
            </a:r>
          </a:p>
          <a:p>
            <a:pPr algn="l">
              <a:spcBef>
                <a:spcPts val="200"/>
              </a:spcBef>
              <a:spcAft>
                <a:spcPts val="400"/>
              </a:spcAft>
            </a:pPr>
            <a:r>
              <a:rPr sz="1100" b="0" i="0" dirty="0">
                <a:solidFill>
                  <a:srgbClr val="444444"/>
                </a:solidFill>
                <a:latin typeface="Times New Roman"/>
              </a:rPr>
              <a:t>Reformulate as Pareto optimization over accuracy, compactness, stability, and transferability producing a Pareto front of candidate subsets.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3097</Words>
  <Application>Microsoft Office PowerPoint</Application>
  <PresentationFormat>Widescreen</PresentationFormat>
  <Paragraphs>218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Joshua Sheron</dc:creator>
  <cp:keywords/>
  <dc:description>generated using python-pptx</dc:description>
  <cp:lastModifiedBy>Joshua Sheron</cp:lastModifiedBy>
  <cp:revision>5</cp:revision>
  <dcterms:created xsi:type="dcterms:W3CDTF">2013-01-27T09:14:16Z</dcterms:created>
  <dcterms:modified xsi:type="dcterms:W3CDTF">2026-04-20T07:21:10Z</dcterms:modified>
  <cp:category/>
</cp:coreProperties>
</file>